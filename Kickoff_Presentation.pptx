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everyone, set energy high. Introduce the club and today's agenda.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what we'll cover today at a high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a quick, energetic taste of the sport before diving into our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format simply: how you win, why it's approachable for our club to 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robot's three functional systems: brain, drive, weapon.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phone-as-controller approach and why it's simpler than RC gear.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core parts we'll each need to source before building.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stages of the build in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pin reference at a moderate level of detail, not the full wiring diagram.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safety concept: the robot always boots stopped and needs an explicit activate.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actually connecting and driving once at the club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this is run every single time, not just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non-negotiable slide — read through calmly and clearly.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energy — recap what we covered and get everyone excited to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54650" y="0"/>
            <a:ext cx="133350" cy="10287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Shape 2"/>
          <p:cNvSpPr/>
          <p:nvPr/>
        </p:nvSpPr>
        <p:spPr>
          <a:xfrm>
            <a:off x="1047750" y="1023938"/>
            <a:ext cx="133350" cy="133350"/>
          </a:xfrm>
          <a:prstGeom prst="rect">
            <a:avLst/>
          </a:prstGeom>
          <a:solidFill>
            <a:srgbClr val="C8FF3D"/>
          </a:solidFill>
          <a:ln/>
          <a:effectLst>
            <a:outerShdw sx="100000" sy="100000" kx="0" ky="0" algn="bl" rotWithShape="0" blurRad="190500" dist="50800" dir="16200000">
              <a:srgbClr val="C8FF3D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33500" y="952500"/>
            <a:ext cx="262828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KICKOFF MEETING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3824922"/>
            <a:ext cx="16678275" cy="1608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56"/>
              </a:lnSpc>
              <a:buNone/>
            </a:pPr>
            <a:r>
              <a:rPr lang="en-US" sz="5850" b="1" spc="59" kern="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OUR ANTWEIGHT COMBAT ROBOT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1047750" y="5585778"/>
            <a:ext cx="178117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pound of pure attitude, driven from your phone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47750" y="8639175"/>
            <a:ext cx="25404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88" kern="0" dirty="0">
                <a:solidFill>
                  <a:srgbClr val="565C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CLASS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047750" y="8924925"/>
            <a:ext cx="254044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33" kern="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Antweight · 1 lb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966845" y="8639175"/>
            <a:ext cx="27087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88" kern="0" dirty="0">
                <a:solidFill>
                  <a:srgbClr val="565C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3966845" y="8924925"/>
            <a:ext cx="2708783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33" kern="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+ Browser</a:t>
            </a:r>
            <a:endParaRPr lang="en-US" sz="3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D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SESSION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04925"/>
            <a:ext cx="1781175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850" b="1" spc="59" kern="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1047750" y="3829050"/>
            <a:ext cx="7943850" cy="19050"/>
          </a:xfrm>
          <a:prstGeom prst="rect">
            <a:avLst/>
          </a:prstGeom>
          <a:solidFill>
            <a:srgbClr val="3A3F46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2828925"/>
            <a:ext cx="83820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42" kern="0" dirty="0">
                <a:solidFill>
                  <a:srgbClr val="565C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038350" y="3038475"/>
            <a:ext cx="513921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antweight combat robotics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47750" y="5114925"/>
            <a:ext cx="7943850" cy="19050"/>
          </a:xfrm>
          <a:prstGeom prst="rect">
            <a:avLst/>
          </a:prstGeom>
          <a:solidFill>
            <a:srgbClr val="3A3F46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4114800"/>
            <a:ext cx="83820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42" kern="0" dirty="0">
                <a:solidFill>
                  <a:srgbClr val="565C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038350" y="4324350"/>
            <a:ext cx="386218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our robot, AntBot-S3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47750" y="6400800"/>
            <a:ext cx="7943850" cy="19050"/>
          </a:xfrm>
          <a:prstGeom prst="rect">
            <a:avLst/>
          </a:prstGeom>
          <a:solidFill>
            <a:srgbClr val="3A3F46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5400675"/>
            <a:ext cx="83820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42" kern="0" dirty="0">
                <a:solidFill>
                  <a:srgbClr val="565C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038350" y="5610225"/>
            <a:ext cx="371078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need to build it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296400" y="3829050"/>
            <a:ext cx="7943850" cy="19050"/>
          </a:xfrm>
          <a:prstGeom prst="rect">
            <a:avLst/>
          </a:prstGeom>
          <a:solidFill>
            <a:srgbClr val="3A3F46"/>
          </a:solidFill>
          <a:ln/>
        </p:spPr>
      </p:sp>
      <p:sp>
        <p:nvSpPr>
          <p:cNvPr id="14" name="Text 12"/>
          <p:cNvSpPr/>
          <p:nvPr/>
        </p:nvSpPr>
        <p:spPr>
          <a:xfrm>
            <a:off x="9296400" y="2828925"/>
            <a:ext cx="83820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42" kern="0" dirty="0">
                <a:solidFill>
                  <a:srgbClr val="565C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0287000" y="3038475"/>
            <a:ext cx="435916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we'll build it, step by step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296400" y="5114925"/>
            <a:ext cx="7943850" cy="19050"/>
          </a:xfrm>
          <a:prstGeom prst="rect">
            <a:avLst/>
          </a:prstGeom>
          <a:solidFill>
            <a:srgbClr val="3A3F46"/>
          </a:solidFill>
          <a:ln/>
        </p:spPr>
      </p:sp>
      <p:sp>
        <p:nvSpPr>
          <p:cNvPr id="17" name="Text 15"/>
          <p:cNvSpPr/>
          <p:nvPr/>
        </p:nvSpPr>
        <p:spPr>
          <a:xfrm>
            <a:off x="9296400" y="4114800"/>
            <a:ext cx="83820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42" kern="0" dirty="0">
                <a:solidFill>
                  <a:srgbClr val="565C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0287000" y="4324350"/>
            <a:ext cx="366048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and safety basics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296400" y="6400800"/>
            <a:ext cx="7943850" cy="19050"/>
          </a:xfrm>
          <a:prstGeom prst="rect">
            <a:avLst/>
          </a:prstGeom>
          <a:solidFill>
            <a:srgbClr val="3A3F46"/>
          </a:solidFill>
          <a:ln/>
        </p:spPr>
      </p:sp>
      <p:sp>
        <p:nvSpPr>
          <p:cNvPr id="20" name="Text 18"/>
          <p:cNvSpPr/>
          <p:nvPr/>
        </p:nvSpPr>
        <p:spPr>
          <a:xfrm>
            <a:off x="9296400" y="5400675"/>
            <a:ext cx="83820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42" kern="0" dirty="0">
                <a:solidFill>
                  <a:srgbClr val="565C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10287000" y="5610225"/>
            <a:ext cx="359011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 together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C8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SPORT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04925"/>
            <a:ext cx="1781175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850" b="1" spc="59" kern="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ANTWEIGHT COMBAT ROBOTICS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047750" y="4705350"/>
            <a:ext cx="8427925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240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remote-controlled robots, one arena, three minutes. Builders design and drive machines armed with spinners, wedges, and hammers — and the last one still moving wins.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7750" y="6381750"/>
            <a:ext cx="2352897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54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lb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047750" y="7362825"/>
            <a:ext cx="235289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65C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Antweight class limit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3643947" y="6381750"/>
            <a:ext cx="2343991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54" kern="0" dirty="0">
                <a:solidFill>
                  <a:srgbClr val="C8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min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643947" y="7362825"/>
            <a:ext cx="234399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65C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match length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9801702" y="2828925"/>
            <a:ext cx="7438549" cy="6696075"/>
          </a:xfrm>
          <a:prstGeom prst="rect">
            <a:avLst/>
          </a:prstGeom>
          <a:solidFill>
            <a:srgbClr val="2A2E33"/>
          </a:solidFill>
          <a:ln w="19050">
            <a:solidFill>
              <a:srgbClr val="3A3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90745" y="5853113"/>
            <a:ext cx="686046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565C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PHOTO: antweight bots battling in a combat arena</a:t>
            </a:r>
            <a:endParaRPr lang="en-US" sz="18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C8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SPORT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04925"/>
            <a:ext cx="1781175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850" b="1" spc="59" kern="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MATCH IS WON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1047750" y="2828925"/>
            <a:ext cx="5168900" cy="2586038"/>
          </a:xfrm>
          <a:prstGeom prst="rect">
            <a:avLst/>
          </a:prstGeom>
          <a:solidFill>
            <a:srgbClr val="15171A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2828925"/>
            <a:ext cx="5168900" cy="5715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3267075"/>
            <a:ext cx="484759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3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Knockout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28750" y="3962400"/>
            <a:ext cx="4539107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ECEAE4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Immobilize the other bot completely and the match ends early — the clearest win in the sport.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559550" y="2828925"/>
            <a:ext cx="5168900" cy="2586038"/>
          </a:xfrm>
          <a:prstGeom prst="rect">
            <a:avLst/>
          </a:prstGeom>
          <a:solidFill>
            <a:srgbClr val="15171A"/>
          </a:solidFill>
          <a:ln/>
        </p:spPr>
      </p:sp>
      <p:sp>
        <p:nvSpPr>
          <p:cNvPr id="9" name="Shape 7"/>
          <p:cNvSpPr/>
          <p:nvPr/>
        </p:nvSpPr>
        <p:spPr>
          <a:xfrm>
            <a:off x="6559550" y="2828925"/>
            <a:ext cx="5168900" cy="57150"/>
          </a:xfrm>
          <a:prstGeom prst="rect">
            <a:avLst/>
          </a:prstGeom>
          <a:solidFill>
            <a:srgbClr val="C8FF3D"/>
          </a:solidFill>
          <a:ln/>
        </p:spPr>
      </p:sp>
      <p:sp>
        <p:nvSpPr>
          <p:cNvPr id="10" name="Text 8"/>
          <p:cNvSpPr/>
          <p:nvPr/>
        </p:nvSpPr>
        <p:spPr>
          <a:xfrm>
            <a:off x="6940550" y="3267075"/>
            <a:ext cx="484759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30" kern="0" dirty="0">
                <a:solidFill>
                  <a:srgbClr val="C8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Judges' Decision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40550" y="3962400"/>
            <a:ext cx="4539107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ECEAE4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time runs out, judges score on damage dealt, control, and aggression to pick a winner.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2071350" y="2828925"/>
            <a:ext cx="5168900" cy="2586038"/>
          </a:xfrm>
          <a:prstGeom prst="rect">
            <a:avLst/>
          </a:prstGeom>
          <a:solidFill>
            <a:srgbClr val="15171A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71350" y="2828925"/>
            <a:ext cx="5168900" cy="57150"/>
          </a:xfrm>
          <a:prstGeom prst="rect">
            <a:avLst/>
          </a:prstGeom>
          <a:solidFill>
            <a:srgbClr val="ECEAE4"/>
          </a:solidFill>
          <a:ln/>
        </p:spPr>
      </p:sp>
      <p:sp>
        <p:nvSpPr>
          <p:cNvPr id="14" name="Text 12"/>
          <p:cNvSpPr/>
          <p:nvPr/>
        </p:nvSpPr>
        <p:spPr>
          <a:xfrm>
            <a:off x="12452350" y="3267075"/>
            <a:ext cx="484759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30" kern="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Weapon Styles Vary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2452350" y="3962400"/>
            <a:ext cx="4539107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ECEAE4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Spinners, flippers, wedges, and hammers are all common — our build uses a spinning weapon.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ROBOT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04925"/>
            <a:ext cx="1781175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850" b="1" spc="59" kern="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ANTBOT-S3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047750" y="2600325"/>
            <a:ext cx="5508736" cy="1531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ECEAE4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microcontroller board is the entire brain — it makes its own Wi-Fi network, so a phone or laptop can drive it straight from a browser. No transmitter, no receiver, no radio gear.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047750" y="4265295"/>
            <a:ext cx="5348288" cy="1314450"/>
          </a:xfrm>
          <a:prstGeom prst="rect">
            <a:avLst/>
          </a:prstGeom>
          <a:solidFill>
            <a:srgbClr val="1D2024"/>
          </a:solidFill>
          <a:ln w="19050">
            <a:solidFill>
              <a:srgbClr val="3A3F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3500" y="4784407"/>
            <a:ext cx="13620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C8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800350" y="4436745"/>
            <a:ext cx="364093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1" kern="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 DevKit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800350" y="4836795"/>
            <a:ext cx="3409236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ECEAE4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Hosts Wi-Fi, turns joystick input into motor commands.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47750" y="5713095"/>
            <a:ext cx="5348288" cy="1314450"/>
          </a:xfrm>
          <a:prstGeom prst="rect">
            <a:avLst/>
          </a:prstGeom>
          <a:solidFill>
            <a:srgbClr val="1D2024"/>
          </a:solidFill>
          <a:ln w="19050">
            <a:solidFill>
              <a:srgbClr val="3A3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6232207"/>
            <a:ext cx="13620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C8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800350" y="5884545"/>
            <a:ext cx="364093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1" kern="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DRV8833 + 2× N20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800350" y="6284595"/>
            <a:ext cx="3409236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ECEAE4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Tank steering, two gear motors, brakes to a stop.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47750" y="7160895"/>
            <a:ext cx="5348288" cy="1028700"/>
          </a:xfrm>
          <a:prstGeom prst="rect">
            <a:avLst/>
          </a:prstGeom>
          <a:solidFill>
            <a:srgbClr val="1D2024"/>
          </a:solidFill>
          <a:ln w="19050">
            <a:solidFill>
              <a:srgbClr val="3A3F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7537132"/>
            <a:ext cx="13620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WEAPON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800350" y="7332345"/>
            <a:ext cx="268363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1" kern="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Brushless ESC + Motor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800350" y="7732395"/>
            <a:ext cx="268363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ECEAE4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Throttle only, no reverse.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853238" y="2600325"/>
            <a:ext cx="10387013" cy="6924675"/>
          </a:xfrm>
          <a:prstGeom prst="rect">
            <a:avLst/>
          </a:prstGeom>
          <a:solidFill>
            <a:srgbClr val="ECEAE4"/>
          </a:solidFill>
          <a:ln w="19050">
            <a:solidFill>
              <a:srgbClr val="3A3F46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-25000" r="-25000" t="0" b="0"/>
          <a:stretch/>
        </p:blipFill>
        <p:spPr>
          <a:xfrm>
            <a:off x="6853238" y="2600325"/>
            <a:ext cx="10387013" cy="69246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D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ROBOT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04925"/>
            <a:ext cx="1781175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850" b="1" spc="59" kern="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DRIVEN BY WI-FI, NOT RADIO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047750" y="4794885"/>
            <a:ext cx="6096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33" kern="0" dirty="0">
                <a:solidFill>
                  <a:srgbClr val="C8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771650" y="4794885"/>
            <a:ext cx="7747413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robot creates its own Wi-Fi network on power-up.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47750" y="5623560"/>
            <a:ext cx="55419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33" kern="0" dirty="0">
                <a:solidFill>
                  <a:srgbClr val="C8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716246" y="5623560"/>
            <a:ext cx="7356264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phone or laptop joins that network and opens a browser.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47750" y="6705600"/>
            <a:ext cx="498951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33" kern="0" dirty="0">
                <a:solidFill>
                  <a:srgbClr val="C8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661001" y="6705600"/>
            <a:ext cx="7413167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joystick and weapon slider load right on the page — no app to install.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429750" y="2828925"/>
            <a:ext cx="7810500" cy="6696075"/>
          </a:xfrm>
          <a:prstGeom prst="rect">
            <a:avLst/>
          </a:prstGeom>
          <a:solidFill>
            <a:srgbClr val="15171A"/>
          </a:solidFill>
          <a:ln w="19050">
            <a:solidFill>
              <a:srgbClr val="3A3F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287250" y="4852988"/>
            <a:ext cx="2095500" cy="2095500"/>
          </a:xfrm>
          <a:prstGeom prst="ellipse">
            <a:avLst/>
          </a:prstGeom>
          <a:ln w="38100">
            <a:solidFill>
              <a:srgbClr val="3A3F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906375" y="5472113"/>
            <a:ext cx="857250" cy="857250"/>
          </a:xfrm>
          <a:prstGeom prst="ellipse">
            <a:avLst/>
          </a:prstGeom>
          <a:solidFill>
            <a:srgbClr val="C8FF3D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977563" y="7177088"/>
            <a:ext cx="518636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65C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on-screen joystick, phone browser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04925"/>
            <a:ext cx="1781175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850" b="1" spc="59" kern="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NEED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1047750" y="2828925"/>
            <a:ext cx="16192500" cy="6696075"/>
          </a:xfrm>
          <a:prstGeom prst="rect">
            <a:avLst/>
          </a:prstGeom>
          <a:ln w="19050">
            <a:solidFill>
              <a:srgbClr val="3A3F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6800" y="2847975"/>
            <a:ext cx="16154400" cy="704850"/>
          </a:xfrm>
          <a:prstGeom prst="rect">
            <a:avLst/>
          </a:prstGeom>
          <a:solidFill>
            <a:srgbClr val="2A2E33"/>
          </a:solidFill>
          <a:ln/>
        </p:spPr>
      </p:sp>
      <p:sp>
        <p:nvSpPr>
          <p:cNvPr id="6" name="Text 4"/>
          <p:cNvSpPr/>
          <p:nvPr/>
        </p:nvSpPr>
        <p:spPr>
          <a:xfrm>
            <a:off x="1409700" y="3057525"/>
            <a:ext cx="654442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150" kern="0" dirty="0">
                <a:solidFill>
                  <a:srgbClr val="565C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7359174" y="3057525"/>
            <a:ext cx="785323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150" kern="0" dirty="0">
                <a:solidFill>
                  <a:srgbClr val="565C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4498479" y="3057525"/>
            <a:ext cx="261780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150" kern="0" dirty="0">
                <a:solidFill>
                  <a:srgbClr val="565C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QTY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1066800" y="3552825"/>
            <a:ext cx="16154400" cy="9525"/>
          </a:xfrm>
          <a:prstGeom prst="rect">
            <a:avLst/>
          </a:prstGeom>
          <a:solidFill>
            <a:srgbClr val="3A3F46"/>
          </a:solidFill>
          <a:ln/>
        </p:spPr>
      </p:sp>
      <p:sp>
        <p:nvSpPr>
          <p:cNvPr id="10" name="Text 8"/>
          <p:cNvSpPr/>
          <p:nvPr/>
        </p:nvSpPr>
        <p:spPr>
          <a:xfrm>
            <a:off x="1409700" y="3752850"/>
            <a:ext cx="654442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2S LiPo Battery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7359174" y="3752850"/>
            <a:ext cx="785323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CEAE4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7.4V nominal, high discharge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4498479" y="3752850"/>
            <a:ext cx="261780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066800" y="4229100"/>
            <a:ext cx="16154400" cy="9525"/>
          </a:xfrm>
          <a:prstGeom prst="rect">
            <a:avLst/>
          </a:prstGeom>
          <a:solidFill>
            <a:srgbClr val="3A3F46"/>
          </a:solidFill>
          <a:ln/>
        </p:spPr>
      </p:sp>
      <p:sp>
        <p:nvSpPr>
          <p:cNvPr id="14" name="Text 12"/>
          <p:cNvSpPr/>
          <p:nvPr/>
        </p:nvSpPr>
        <p:spPr>
          <a:xfrm>
            <a:off x="1409700" y="4429125"/>
            <a:ext cx="654442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 DevKit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7359174" y="4429125"/>
            <a:ext cx="785323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CEAE4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with onboard RGB status LED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4498479" y="4429125"/>
            <a:ext cx="261780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066800" y="4905375"/>
            <a:ext cx="16154400" cy="9525"/>
          </a:xfrm>
          <a:prstGeom prst="rect">
            <a:avLst/>
          </a:prstGeom>
          <a:solidFill>
            <a:srgbClr val="3A3F46"/>
          </a:solidFill>
          <a:ln/>
        </p:spPr>
      </p:sp>
      <p:sp>
        <p:nvSpPr>
          <p:cNvPr id="18" name="Text 16"/>
          <p:cNvSpPr/>
          <p:nvPr/>
        </p:nvSpPr>
        <p:spPr>
          <a:xfrm>
            <a:off x="1409700" y="5105400"/>
            <a:ext cx="654442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DRV8833 Motor Driver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7359174" y="5105400"/>
            <a:ext cx="785323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CEAE4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2-channel H-bridge breakout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4498479" y="5105400"/>
            <a:ext cx="261780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1066800" y="5581650"/>
            <a:ext cx="16154400" cy="9525"/>
          </a:xfrm>
          <a:prstGeom prst="rect">
            <a:avLst/>
          </a:prstGeom>
          <a:solidFill>
            <a:srgbClr val="3A3F46"/>
          </a:solidFill>
          <a:ln/>
        </p:spPr>
      </p:sp>
      <p:sp>
        <p:nvSpPr>
          <p:cNvPr id="22" name="Text 20"/>
          <p:cNvSpPr/>
          <p:nvPr/>
        </p:nvSpPr>
        <p:spPr>
          <a:xfrm>
            <a:off x="1409700" y="5781675"/>
            <a:ext cx="654442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N20 Gear Motors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7359174" y="5781675"/>
            <a:ext cx="785323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CEAE4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~500 RPM class @ 6V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4498479" y="5781675"/>
            <a:ext cx="261780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066800" y="6257925"/>
            <a:ext cx="16154400" cy="9525"/>
          </a:xfrm>
          <a:prstGeom prst="rect">
            <a:avLst/>
          </a:prstGeom>
          <a:solidFill>
            <a:srgbClr val="3A3F46"/>
          </a:solidFill>
          <a:ln/>
        </p:spPr>
      </p:sp>
      <p:sp>
        <p:nvSpPr>
          <p:cNvPr id="26" name="Text 24"/>
          <p:cNvSpPr/>
          <p:nvPr/>
        </p:nvSpPr>
        <p:spPr>
          <a:xfrm>
            <a:off x="1409700" y="6457950"/>
            <a:ext cx="654442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Brushless Weapon ESC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7359174" y="6457950"/>
            <a:ext cx="785323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CEAE4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profile, 15A, 2S, throttle-only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4498479" y="6457950"/>
            <a:ext cx="261780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066800" y="6934200"/>
            <a:ext cx="16154400" cy="9525"/>
          </a:xfrm>
          <a:prstGeom prst="rect">
            <a:avLst/>
          </a:prstGeom>
          <a:solidFill>
            <a:srgbClr val="3A3F46"/>
          </a:solidFill>
          <a:ln/>
        </p:spPr>
      </p:sp>
      <p:sp>
        <p:nvSpPr>
          <p:cNvPr id="30" name="Text 28"/>
          <p:cNvSpPr/>
          <p:nvPr/>
        </p:nvSpPr>
        <p:spPr>
          <a:xfrm>
            <a:off x="1409700" y="7134225"/>
            <a:ext cx="654442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Weapon Motor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7359174" y="7134225"/>
            <a:ext cx="785323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CEAE4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Brushless, sized to the ESC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14498479" y="7134225"/>
            <a:ext cx="261780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1066800" y="7610475"/>
            <a:ext cx="16154400" cy="9525"/>
          </a:xfrm>
          <a:prstGeom prst="rect">
            <a:avLst/>
          </a:prstGeom>
          <a:solidFill>
            <a:srgbClr val="3A3F46"/>
          </a:solidFill>
          <a:ln/>
        </p:spPr>
      </p:sp>
      <p:sp>
        <p:nvSpPr>
          <p:cNvPr id="34" name="Text 32"/>
          <p:cNvSpPr/>
          <p:nvPr/>
        </p:nvSpPr>
        <p:spPr>
          <a:xfrm>
            <a:off x="1409700" y="7810500"/>
            <a:ext cx="654442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Connectors &amp; Wire</a:t>
            </a:r>
            <a:endParaRPr lang="en-US" sz="1875" dirty="0"/>
          </a:p>
        </p:txBody>
      </p:sp>
      <p:sp>
        <p:nvSpPr>
          <p:cNvPr id="35" name="Text 33"/>
          <p:cNvSpPr/>
          <p:nvPr/>
        </p:nvSpPr>
        <p:spPr>
          <a:xfrm>
            <a:off x="7359174" y="7810500"/>
            <a:ext cx="785323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CEAE4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JST-XH, XT30, silicone wire, heat-shrink</a:t>
            </a:r>
            <a:endParaRPr lang="en-US" sz="1875" dirty="0"/>
          </a:p>
        </p:txBody>
      </p:sp>
      <p:sp>
        <p:nvSpPr>
          <p:cNvPr id="36" name="Text 34"/>
          <p:cNvSpPr/>
          <p:nvPr/>
        </p:nvSpPr>
        <p:spPr>
          <a:xfrm>
            <a:off x="14498479" y="7810500"/>
            <a:ext cx="261780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D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04925"/>
            <a:ext cx="1781175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850" b="1" spc="59" kern="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WE'LL BUILD IT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1047750" y="2828925"/>
            <a:ext cx="3055620" cy="6696075"/>
          </a:xfrm>
          <a:prstGeom prst="rect">
            <a:avLst/>
          </a:prstGeom>
          <a:solidFill>
            <a:srgbClr val="15171A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2828925"/>
            <a:ext cx="3055620" cy="381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171825"/>
            <a:ext cx="2816352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39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295400" y="4038600"/>
            <a:ext cx="281635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22" kern="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Software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95400" y="4600575"/>
            <a:ext cx="2637129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ECEAE4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the Arduino IDE and get the robot's code onto your computer.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31970" y="2828925"/>
            <a:ext cx="3055620" cy="6696075"/>
          </a:xfrm>
          <a:prstGeom prst="rect">
            <a:avLst/>
          </a:prstGeom>
          <a:solidFill>
            <a:srgbClr val="15171A"/>
          </a:solidFill>
          <a:ln/>
        </p:spPr>
      </p:sp>
      <p:sp>
        <p:nvSpPr>
          <p:cNvPr id="10" name="Shape 8"/>
          <p:cNvSpPr/>
          <p:nvPr/>
        </p:nvSpPr>
        <p:spPr>
          <a:xfrm>
            <a:off x="4331970" y="2828925"/>
            <a:ext cx="3055620" cy="381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11" name="Text 9"/>
          <p:cNvSpPr/>
          <p:nvPr/>
        </p:nvSpPr>
        <p:spPr>
          <a:xfrm>
            <a:off x="4579620" y="3171825"/>
            <a:ext cx="2816352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39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4579620" y="4038600"/>
            <a:ext cx="281635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22" kern="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The Layout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4579620" y="4600575"/>
            <a:ext cx="2637129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ECEAE4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Dry-fit battery, driver, brain, and ESC before cutting wire.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16190" y="2828925"/>
            <a:ext cx="3055620" cy="6696075"/>
          </a:xfrm>
          <a:prstGeom prst="rect">
            <a:avLst/>
          </a:prstGeom>
          <a:solidFill>
            <a:srgbClr val="15171A"/>
          </a:solidFill>
          <a:ln/>
        </p:spPr>
      </p:sp>
      <p:sp>
        <p:nvSpPr>
          <p:cNvPr id="15" name="Shape 13"/>
          <p:cNvSpPr/>
          <p:nvPr/>
        </p:nvSpPr>
        <p:spPr>
          <a:xfrm>
            <a:off x="7616190" y="2828925"/>
            <a:ext cx="3055620" cy="381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0" y="3171825"/>
            <a:ext cx="2816352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39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7863840" y="4038600"/>
            <a:ext cx="281635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22" kern="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The Harness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7863840" y="4600575"/>
            <a:ext cx="2637129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ECEAE4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power, signal, and motor connections per the pinout.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900410" y="2828925"/>
            <a:ext cx="3055620" cy="6696075"/>
          </a:xfrm>
          <a:prstGeom prst="rect">
            <a:avLst/>
          </a:prstGeom>
          <a:solidFill>
            <a:srgbClr val="15171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900410" y="2828925"/>
            <a:ext cx="3055620" cy="381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21" name="Text 19"/>
          <p:cNvSpPr/>
          <p:nvPr/>
        </p:nvSpPr>
        <p:spPr>
          <a:xfrm>
            <a:off x="11148060" y="3171825"/>
            <a:ext cx="2816352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39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900" dirty="0"/>
          </a:p>
        </p:txBody>
      </p:sp>
      <p:sp>
        <p:nvSpPr>
          <p:cNvPr id="22" name="Text 20"/>
          <p:cNvSpPr/>
          <p:nvPr/>
        </p:nvSpPr>
        <p:spPr>
          <a:xfrm>
            <a:off x="11148060" y="4038600"/>
            <a:ext cx="281635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22" kern="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Firmware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1148060" y="4600575"/>
            <a:ext cx="2637129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ECEAE4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pin numbers and Wi-Fi name, then upload it.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4184630" y="2828925"/>
            <a:ext cx="3055620" cy="6696075"/>
          </a:xfrm>
          <a:prstGeom prst="rect">
            <a:avLst/>
          </a:prstGeom>
          <a:solidFill>
            <a:srgbClr val="15171A"/>
          </a:solidFill>
          <a:ln/>
        </p:spPr>
      </p:sp>
      <p:sp>
        <p:nvSpPr>
          <p:cNvPr id="25" name="Shape 23"/>
          <p:cNvSpPr/>
          <p:nvPr/>
        </p:nvSpPr>
        <p:spPr>
          <a:xfrm>
            <a:off x="14184630" y="2828925"/>
            <a:ext cx="3055620" cy="381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26" name="Text 24"/>
          <p:cNvSpPr/>
          <p:nvPr/>
        </p:nvSpPr>
        <p:spPr>
          <a:xfrm>
            <a:off x="14432280" y="3171825"/>
            <a:ext cx="2816352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39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900" dirty="0"/>
          </a:p>
        </p:txBody>
      </p:sp>
      <p:sp>
        <p:nvSpPr>
          <p:cNvPr id="27" name="Text 25"/>
          <p:cNvSpPr/>
          <p:nvPr/>
        </p:nvSpPr>
        <p:spPr>
          <a:xfrm>
            <a:off x="14432280" y="4038600"/>
            <a:ext cx="281635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22" kern="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&amp; Drive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4432280" y="4600575"/>
            <a:ext cx="2637129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ECEAE4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checklist, then drive it lifted off the ground.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04925"/>
            <a:ext cx="1781175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850" b="1" spc="59" kern="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WIRING IT UP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047750" y="2828925"/>
            <a:ext cx="804481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240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signal on the board comes straight from its own GPIO pins — five wires tell the robot how to move and fire.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47750" y="4048125"/>
            <a:ext cx="7810500" cy="2428875"/>
          </a:xfrm>
          <a:prstGeom prst="rect">
            <a:avLst/>
          </a:prstGeom>
          <a:ln w="19050">
            <a:solidFill>
              <a:srgbClr val="3A3F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6800" y="4067175"/>
            <a:ext cx="7772400" cy="619125"/>
          </a:xfrm>
          <a:prstGeom prst="rect">
            <a:avLst/>
          </a:prstGeom>
          <a:solidFill>
            <a:srgbClr val="2A2E33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4238625"/>
            <a:ext cx="26543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565C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746500" y="4238625"/>
            <a:ext cx="189590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565C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GPIO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70049" y="4238625"/>
            <a:ext cx="34126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565C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GOES TO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66800" y="4686300"/>
            <a:ext cx="7772400" cy="9525"/>
          </a:xfrm>
          <a:prstGeom prst="rect">
            <a:avLst/>
          </a:prstGeom>
          <a:solidFill>
            <a:srgbClr val="3A3F46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4848225"/>
            <a:ext cx="26543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WEAPON_PIN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46500" y="4848225"/>
            <a:ext cx="189590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70049" y="4848225"/>
            <a:ext cx="34126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CEAE4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Weapon ESC signal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66800" y="5276850"/>
            <a:ext cx="7772400" cy="9525"/>
          </a:xfrm>
          <a:prstGeom prst="rect">
            <a:avLst/>
          </a:prstGeom>
          <a:solidFill>
            <a:srgbClr val="3A3F46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5438775"/>
            <a:ext cx="26543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L_IN1 / L_IN2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46500" y="5438775"/>
            <a:ext cx="189590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8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70049" y="5438775"/>
            <a:ext cx="34126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CEAE4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motor driver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66800" y="5867400"/>
            <a:ext cx="7772400" cy="9525"/>
          </a:xfrm>
          <a:prstGeom prst="rect">
            <a:avLst/>
          </a:prstGeom>
          <a:solidFill>
            <a:srgbClr val="3A3F46"/>
          </a:solidFill>
          <a:ln/>
        </p:spPr>
      </p:sp>
      <p:sp>
        <p:nvSpPr>
          <p:cNvPr id="19" name="Text 17"/>
          <p:cNvSpPr/>
          <p:nvPr/>
        </p:nvSpPr>
        <p:spPr>
          <a:xfrm>
            <a:off x="1333500" y="6029325"/>
            <a:ext cx="26543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R_IN2 / R_IN1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46500" y="6029325"/>
            <a:ext cx="189590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8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70049" y="6029325"/>
            <a:ext cx="34126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CEAE4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motor driver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429750" y="4414838"/>
            <a:ext cx="7810500" cy="1666875"/>
          </a:xfrm>
          <a:prstGeom prst="rect">
            <a:avLst/>
          </a:prstGeom>
          <a:solidFill>
            <a:srgbClr val="1D2024"/>
          </a:solidFill>
          <a:ln/>
        </p:spPr>
      </p:sp>
      <p:sp>
        <p:nvSpPr>
          <p:cNvPr id="23" name="Shape 21"/>
          <p:cNvSpPr/>
          <p:nvPr/>
        </p:nvSpPr>
        <p:spPr>
          <a:xfrm>
            <a:off x="9429750" y="4414838"/>
            <a:ext cx="57150" cy="1666875"/>
          </a:xfrm>
          <a:prstGeom prst="rect">
            <a:avLst/>
          </a:prstGeom>
          <a:solidFill>
            <a:srgbClr val="C8FF3D"/>
          </a:solidFill>
          <a:ln/>
        </p:spPr>
      </p:sp>
      <p:sp>
        <p:nvSpPr>
          <p:cNvPr id="24" name="Text 22"/>
          <p:cNvSpPr/>
          <p:nvPr/>
        </p:nvSpPr>
        <p:spPr>
          <a:xfrm>
            <a:off x="9791700" y="4719638"/>
            <a:ext cx="78581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C8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SIMPLE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791700" y="5091113"/>
            <a:ext cx="735806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ECEAE4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power bus, short direct signal runs, and keyed connectors — nothing can plug in backward.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429750" y="6272213"/>
            <a:ext cx="7810500" cy="1666875"/>
          </a:xfrm>
          <a:prstGeom prst="rect">
            <a:avLst/>
          </a:prstGeom>
          <a:solidFill>
            <a:srgbClr val="1D2024"/>
          </a:solidFill>
          <a:ln/>
        </p:spPr>
      </p:sp>
      <p:sp>
        <p:nvSpPr>
          <p:cNvPr id="27" name="Shape 25"/>
          <p:cNvSpPr/>
          <p:nvPr/>
        </p:nvSpPr>
        <p:spPr>
          <a:xfrm>
            <a:off x="9429750" y="6272213"/>
            <a:ext cx="57150" cy="1666875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28" name="Text 26"/>
          <p:cNvSpPr/>
          <p:nvPr/>
        </p:nvSpPr>
        <p:spPr>
          <a:xfrm>
            <a:off x="9791700" y="6577013"/>
            <a:ext cx="78581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TWO PLUGS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791700" y="6948488"/>
            <a:ext cx="735806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ECEAE4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else solders direct — the battery connector and the weapon signal pigtail are the only joints you'll unplug.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D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&amp; SAFETY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04925"/>
            <a:ext cx="1781175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850" b="1" spc="59" kern="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BOOT STARTS STOPPED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1047750" y="2828925"/>
            <a:ext cx="3848100" cy="6696075"/>
          </a:xfrm>
          <a:prstGeom prst="rect">
            <a:avLst/>
          </a:prstGeom>
          <a:solidFill>
            <a:srgbClr val="15171A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2828925"/>
            <a:ext cx="3848100" cy="57150"/>
          </a:xfrm>
          <a:prstGeom prst="rect">
            <a:avLst/>
          </a:prstGeom>
          <a:solidFill>
            <a:srgbClr val="565C64"/>
          </a:solidFill>
          <a:ln/>
        </p:spPr>
      </p:sp>
      <p:sp>
        <p:nvSpPr>
          <p:cNvPr id="6" name="Shape 4"/>
          <p:cNvSpPr/>
          <p:nvPr/>
        </p:nvSpPr>
        <p:spPr>
          <a:xfrm>
            <a:off x="1390650" y="3228975"/>
            <a:ext cx="190500" cy="190500"/>
          </a:xfrm>
          <a:prstGeom prst="ellipse">
            <a:avLst/>
          </a:prstGeom>
          <a:solidFill>
            <a:srgbClr val="565C64"/>
          </a:solidFill>
          <a:ln/>
        </p:spPr>
      </p:sp>
      <p:sp>
        <p:nvSpPr>
          <p:cNvPr id="7" name="Text 5"/>
          <p:cNvSpPr/>
          <p:nvPr/>
        </p:nvSpPr>
        <p:spPr>
          <a:xfrm>
            <a:off x="1390650" y="3552825"/>
            <a:ext cx="347853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24" kern="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90650" y="4124325"/>
            <a:ext cx="325716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ECEAE4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Motors braked, weapon held at zero throttle for 3 seconds while the ESC arms.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62550" y="2828925"/>
            <a:ext cx="3848100" cy="6696075"/>
          </a:xfrm>
          <a:prstGeom prst="rect">
            <a:avLst/>
          </a:prstGeom>
          <a:solidFill>
            <a:srgbClr val="15171A"/>
          </a:solidFill>
          <a:ln/>
        </p:spPr>
      </p:sp>
      <p:sp>
        <p:nvSpPr>
          <p:cNvPr id="10" name="Shape 8"/>
          <p:cNvSpPr/>
          <p:nvPr/>
        </p:nvSpPr>
        <p:spPr>
          <a:xfrm>
            <a:off x="5162550" y="2828925"/>
            <a:ext cx="3848100" cy="57150"/>
          </a:xfrm>
          <a:prstGeom prst="rect">
            <a:avLst/>
          </a:prstGeom>
          <a:solidFill>
            <a:srgbClr val="C8FF3D"/>
          </a:solidFill>
          <a:ln/>
        </p:spPr>
      </p:sp>
      <p:sp>
        <p:nvSpPr>
          <p:cNvPr id="11" name="Shape 9"/>
          <p:cNvSpPr/>
          <p:nvPr/>
        </p:nvSpPr>
        <p:spPr>
          <a:xfrm>
            <a:off x="5505450" y="3228975"/>
            <a:ext cx="190500" cy="190500"/>
          </a:xfrm>
          <a:prstGeom prst="ellipse">
            <a:avLst/>
          </a:prstGeom>
          <a:solidFill>
            <a:srgbClr val="C8FF3D"/>
          </a:solidFill>
          <a:ln/>
          <a:effectLst>
            <a:outerShdw sx="100000" sy="100000" kx="0" ky="0" algn="bl" rotWithShape="0" blurRad="190500" dist="50800" dir="16200000">
              <a:srgbClr val="C8FF3D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05450" y="3552825"/>
            <a:ext cx="347853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24" kern="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505450" y="4124325"/>
            <a:ext cx="325716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ECEAE4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turns solid — Wi-Fi is up, waiting for a browser to connect.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277350" y="2828925"/>
            <a:ext cx="3848100" cy="6696075"/>
          </a:xfrm>
          <a:prstGeom prst="rect">
            <a:avLst/>
          </a:prstGeom>
          <a:solidFill>
            <a:srgbClr val="15171A"/>
          </a:solidFill>
          <a:ln/>
        </p:spPr>
      </p:sp>
      <p:sp>
        <p:nvSpPr>
          <p:cNvPr id="15" name="Shape 13"/>
          <p:cNvSpPr/>
          <p:nvPr/>
        </p:nvSpPr>
        <p:spPr>
          <a:xfrm>
            <a:off x="9277350" y="2828925"/>
            <a:ext cx="3848100" cy="5715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16" name="Shape 14"/>
          <p:cNvSpPr/>
          <p:nvPr/>
        </p:nvSpPr>
        <p:spPr>
          <a:xfrm>
            <a:off x="9620250" y="3228975"/>
            <a:ext cx="190500" cy="190500"/>
          </a:xfrm>
          <a:prstGeom prst="ellipse">
            <a:avLst/>
          </a:prstGeom>
          <a:solidFill>
            <a:srgbClr val="FF6A1A"/>
          </a:solidFill>
          <a:ln/>
          <a:effectLst>
            <a:outerShdw sx="100000" sy="100000" kx="0" ky="0" algn="bl" rotWithShape="0" blurRad="190500" dist="50800" dir="16200000">
              <a:srgbClr val="FF6A1A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20250" y="3552825"/>
            <a:ext cx="347853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24" kern="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Armed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620250" y="4124325"/>
            <a:ext cx="325716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ECEAE4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ACTIVATE in the browser — bot is now live at zero throttle.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392150" y="2828925"/>
            <a:ext cx="3848100" cy="6696075"/>
          </a:xfrm>
          <a:prstGeom prst="rect">
            <a:avLst/>
          </a:prstGeom>
          <a:solidFill>
            <a:srgbClr val="15171A"/>
          </a:solidFill>
          <a:ln/>
        </p:spPr>
      </p:sp>
      <p:sp>
        <p:nvSpPr>
          <p:cNvPr id="20" name="Shape 18"/>
          <p:cNvSpPr/>
          <p:nvPr/>
        </p:nvSpPr>
        <p:spPr>
          <a:xfrm>
            <a:off x="13392150" y="2828925"/>
            <a:ext cx="3848100" cy="57150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21" name="Shape 19"/>
          <p:cNvSpPr/>
          <p:nvPr/>
        </p:nvSpPr>
        <p:spPr>
          <a:xfrm>
            <a:off x="13735050" y="3228975"/>
            <a:ext cx="190500" cy="190500"/>
          </a:xfrm>
          <a:prstGeom prst="ellipse">
            <a:avLst/>
          </a:prstGeom>
          <a:solidFill>
            <a:srgbClr val="FF3B3B"/>
          </a:solidFill>
          <a:ln/>
          <a:effectLst>
            <a:outerShdw sx="100000" sy="100000" kx="0" ky="0" algn="bl" rotWithShape="0" blurRad="190500" dist="50800" dir="16200000">
              <a:srgbClr val="FF3B3B">
                <a:alpha val="10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3735050" y="3552825"/>
            <a:ext cx="347853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24" kern="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Failsafe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735050" y="4124325"/>
            <a:ext cx="325716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ECEAE4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 the link or hit STOP ALL for 1.2 seconds and it re-latches instantly.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&amp; SAFETY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04925"/>
            <a:ext cx="1781175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850" b="1" spc="59" kern="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THE BOT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1047750" y="2828925"/>
            <a:ext cx="3848100" cy="6696075"/>
          </a:xfrm>
          <a:prstGeom prst="rect">
            <a:avLst/>
          </a:prstGeom>
          <a:solidFill>
            <a:srgbClr val="1D2024"/>
          </a:solidFill>
          <a:ln/>
        </p:spPr>
      </p:sp>
      <p:sp>
        <p:nvSpPr>
          <p:cNvPr id="5" name="Text 3"/>
          <p:cNvSpPr/>
          <p:nvPr/>
        </p:nvSpPr>
        <p:spPr>
          <a:xfrm>
            <a:off x="1352550" y="3133725"/>
            <a:ext cx="35623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33" kern="0" dirty="0">
                <a:solidFill>
                  <a:srgbClr val="565C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352550" y="3867150"/>
            <a:ext cx="333565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robot's Wi-Fi network from your phone or laptop.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162550" y="2828925"/>
            <a:ext cx="3848100" cy="6696075"/>
          </a:xfrm>
          <a:prstGeom prst="rect">
            <a:avLst/>
          </a:prstGeom>
          <a:solidFill>
            <a:srgbClr val="1D2024"/>
          </a:solidFill>
          <a:ln/>
        </p:spPr>
      </p:sp>
      <p:sp>
        <p:nvSpPr>
          <p:cNvPr id="8" name="Text 6"/>
          <p:cNvSpPr/>
          <p:nvPr/>
        </p:nvSpPr>
        <p:spPr>
          <a:xfrm>
            <a:off x="5467350" y="3133725"/>
            <a:ext cx="35623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33" kern="0" dirty="0">
                <a:solidFill>
                  <a:srgbClr val="565C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5467350" y="3867150"/>
            <a:ext cx="333565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browser to the robot's address — the joystick page loads automatically.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77350" y="2828925"/>
            <a:ext cx="3848100" cy="6696075"/>
          </a:xfrm>
          <a:prstGeom prst="rect">
            <a:avLst/>
          </a:prstGeom>
          <a:solidFill>
            <a:srgbClr val="1D2024"/>
          </a:solidFill>
          <a:ln/>
        </p:spPr>
      </p:sp>
      <p:sp>
        <p:nvSpPr>
          <p:cNvPr id="11" name="Text 9"/>
          <p:cNvSpPr/>
          <p:nvPr/>
        </p:nvSpPr>
        <p:spPr>
          <a:xfrm>
            <a:off x="9582150" y="3133725"/>
            <a:ext cx="35623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33" kern="0" dirty="0">
                <a:solidFill>
                  <a:srgbClr val="565C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582150" y="3867150"/>
            <a:ext cx="333565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ACTIVATE, then drag the pad to drive and the slider to spin the weapon.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392150" y="2828925"/>
            <a:ext cx="3848100" cy="6696075"/>
          </a:xfrm>
          <a:prstGeom prst="rect">
            <a:avLst/>
          </a:prstGeom>
          <a:solidFill>
            <a:srgbClr val="1D2024"/>
          </a:solidFill>
          <a:ln/>
        </p:spPr>
      </p:sp>
      <p:sp>
        <p:nvSpPr>
          <p:cNvPr id="14" name="Text 12"/>
          <p:cNvSpPr/>
          <p:nvPr/>
        </p:nvSpPr>
        <p:spPr>
          <a:xfrm>
            <a:off x="13696950" y="3133725"/>
            <a:ext cx="35623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33" kern="0" dirty="0">
                <a:solidFill>
                  <a:srgbClr val="FF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3696950" y="3867150"/>
            <a:ext cx="333565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STOP ALL — or hit Escape — any time to hard-stop instantly.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D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PRE-FLIGHT CHECKLIST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04925"/>
            <a:ext cx="1781175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850" b="1" spc="59" kern="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EVERY RUN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1047750" y="2867025"/>
            <a:ext cx="266700" cy="266700"/>
          </a:xfrm>
          <a:prstGeom prst="rect">
            <a:avLst/>
          </a:prstGeom>
          <a:ln w="28575">
            <a:solidFill>
              <a:srgbClr val="C8F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04950" y="2828925"/>
            <a:ext cx="49361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voltage checked before connecting.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9429750" y="2867025"/>
            <a:ext cx="266700" cy="266700"/>
          </a:xfrm>
          <a:prstGeom prst="rect">
            <a:avLst/>
          </a:prstGeom>
          <a:ln w="28575">
            <a:solidFill>
              <a:srgbClr val="C8F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86950" y="2828925"/>
            <a:ext cx="460940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exposed wiring, all heat-shrink intact.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1047750" y="3429000"/>
            <a:ext cx="266700" cy="266700"/>
          </a:xfrm>
          <a:prstGeom prst="rect">
            <a:avLst/>
          </a:prstGeom>
          <a:ln w="28575">
            <a:solidFill>
              <a:srgbClr val="C8F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4950" y="3390900"/>
            <a:ext cx="438448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Weapon area clear of fingers and tools.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429750" y="3429000"/>
            <a:ext cx="266700" cy="266700"/>
          </a:xfrm>
          <a:prstGeom prst="rect">
            <a:avLst/>
          </a:prstGeom>
          <a:ln w="28575">
            <a:solidFill>
              <a:srgbClr val="C8FF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86950" y="3390900"/>
            <a:ext cx="512611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LED confirmed solid before activating.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047750" y="3990975"/>
            <a:ext cx="266700" cy="266700"/>
          </a:xfrm>
          <a:prstGeom prst="rect">
            <a:avLst/>
          </a:prstGeom>
          <a:ln w="28575">
            <a:solidFill>
              <a:srgbClr val="C8F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4950" y="3952875"/>
            <a:ext cx="53915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test drive done with wheels off the ground.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429750" y="3990975"/>
            <a:ext cx="266700" cy="266700"/>
          </a:xfrm>
          <a:prstGeom prst="rect">
            <a:avLst/>
          </a:prstGeom>
          <a:ln w="28575">
            <a:solidFill>
              <a:srgbClr val="C8F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86950" y="3952875"/>
            <a:ext cx="470527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Weapon tested briefly at low throttle first.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047750" y="4552950"/>
            <a:ext cx="266700" cy="266700"/>
          </a:xfrm>
          <a:prstGeom prst="rect">
            <a:avLst/>
          </a:prstGeom>
          <a:ln w="28575">
            <a:solidFill>
              <a:srgbClr val="C8FF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4950" y="4514850"/>
            <a:ext cx="517431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Failsafe confirmed by closing the browser tab.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429750" y="4552950"/>
            <a:ext cx="266700" cy="266700"/>
          </a:xfrm>
          <a:prstGeom prst="rect">
            <a:avLst/>
          </a:prstGeom>
          <a:ln w="28575">
            <a:solidFill>
              <a:srgbClr val="C8FF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86950" y="4514850"/>
            <a:ext cx="46104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ALL tested and re-latch confirmed.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&amp; SAFETY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04925"/>
            <a:ext cx="1781175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850" b="1" spc="59" kern="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WE NEVER SKIP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1047750" y="5305425"/>
            <a:ext cx="14287500" cy="9525"/>
          </a:xfrm>
          <a:prstGeom prst="rect">
            <a:avLst/>
          </a:prstGeom>
          <a:solidFill>
            <a:srgbClr val="3A3F46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4800600"/>
            <a:ext cx="152400" cy="152400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6" name="Text 4"/>
          <p:cNvSpPr/>
          <p:nvPr/>
        </p:nvSpPr>
        <p:spPr>
          <a:xfrm>
            <a:off x="1504950" y="4695825"/>
            <a:ext cx="1042930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 the main battery whenever the bot isn't actively being driven.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47750" y="6172200"/>
            <a:ext cx="14287500" cy="9525"/>
          </a:xfrm>
          <a:prstGeom prst="rect">
            <a:avLst/>
          </a:prstGeom>
          <a:solidFill>
            <a:srgbClr val="3A3F46"/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5667375"/>
            <a:ext cx="152400" cy="152400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9" name="Text 7"/>
          <p:cNvSpPr/>
          <p:nvPr/>
        </p:nvSpPr>
        <p:spPr>
          <a:xfrm>
            <a:off x="1504950" y="5562600"/>
            <a:ext cx="1323517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hands, tools, and loose clothing clear of the weapon any time the battery is connected.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47750" y="7038975"/>
            <a:ext cx="14287500" cy="9525"/>
          </a:xfrm>
          <a:prstGeom prst="rect">
            <a:avLst/>
          </a:prstGeom>
          <a:solidFill>
            <a:srgbClr val="3A3F46"/>
          </a:solidFill>
          <a:ln/>
        </p:spPr>
      </p:sp>
      <p:sp>
        <p:nvSpPr>
          <p:cNvPr id="11" name="Shape 9"/>
          <p:cNvSpPr/>
          <p:nvPr/>
        </p:nvSpPr>
        <p:spPr>
          <a:xfrm>
            <a:off x="1047750" y="6534150"/>
            <a:ext cx="152400" cy="152400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12" name="Text 10"/>
          <p:cNvSpPr/>
          <p:nvPr/>
        </p:nvSpPr>
        <p:spPr>
          <a:xfrm>
            <a:off x="1504950" y="6429375"/>
            <a:ext cx="949244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 eye protection and restrain the robot during weapon testing.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47750" y="7400925"/>
            <a:ext cx="152400" cy="152400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14" name="Text 12"/>
          <p:cNvSpPr/>
          <p:nvPr/>
        </p:nvSpPr>
        <p:spPr>
          <a:xfrm>
            <a:off x="1504950" y="7296150"/>
            <a:ext cx="1046632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the full pre-flight checklist after any rewiring or firmware change.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C8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GET STARTED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3705860"/>
            <a:ext cx="16678275" cy="1608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56"/>
              </a:lnSpc>
              <a:buNone/>
            </a:pPr>
            <a:r>
              <a:rPr lang="en-US" sz="5850" b="1" spc="59" kern="0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PARTS LIST TO ARENA READY</a:t>
            </a:r>
            <a:endParaRPr lang="en-US" sz="5850" dirty="0"/>
          </a:p>
        </p:txBody>
      </p:sp>
      <p:sp>
        <p:nvSpPr>
          <p:cNvPr id="5" name="Text 3"/>
          <p:cNvSpPr/>
          <p:nvPr/>
        </p:nvSpPr>
        <p:spPr>
          <a:xfrm>
            <a:off x="1047750" y="5466715"/>
            <a:ext cx="1275397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board, one battery, and a browser — everything else is just following the steps together.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47750" y="9315450"/>
            <a:ext cx="133350" cy="133350"/>
          </a:xfrm>
          <a:prstGeom prst="rect">
            <a:avLst/>
          </a:prstGeom>
          <a:solidFill>
            <a:srgbClr val="C8FF3D"/>
          </a:solidFill>
          <a:ln/>
          <a:effectLst>
            <a:outerShdw sx="100000" sy="100000" kx="0" ky="0" algn="bl" rotWithShape="0" blurRad="190500" dist="50800" dir="16200000">
              <a:srgbClr val="C8FF3D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33500" y="9239250"/>
            <a:ext cx="288986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65C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you at the build table.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2026-07-23T04:04:48Z</dcterms:created>
  <dcterms:modified xsi:type="dcterms:W3CDTF">2026-07-23T04:04:48Z</dcterms:modified>
</cp:coreProperties>
</file>