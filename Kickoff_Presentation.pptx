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5C677C6-5CC6-45DA-83A5-9A74834F1B7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Welcome everyone, set energy high. Introduce the club and today's agenda.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764E82-DB5F-43F1-864E-878557D22C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what we'll cover today at a high level.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43EA94C-B92B-4928-8D62-1CC1463E13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Give a quick, energetic taste of the sport before diving into our build.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F81C88C-4BC5-40AB-8709-16D8348D02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 format simply: how you win, why it's approachable for our club to enter.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0DD9D46-05BB-43FD-AF50-D125F37C2A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Introduce the robot's three functional systems: brain, drive, weapon.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5CD72A-6525-4C57-971D-D77964170D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the phone-as-controller approach and why it's simpler than RC gear.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8915A1-9FDF-4F4E-95A0-0D98B6C29F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 the core parts we'll each need to source before building.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333476-E1CC-4004-9723-DE4C674628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the five stages of the build in order.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E9E09EF-0893-4015-A96B-B7751F74E9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 the pin reference at a moderate level of detail, not the full wiring diagram.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E96B0B-3989-4D97-91EA-4E6273F6D7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key safety concept: the robot always boots stopped and needs an explicit activate.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198976-7D6D-4E9A-BE19-A94770EAFD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actually connecting and driving once at the club 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BABDC0-CB49-4E40-8DE0-4EFECE2437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Emphasize this is run every single time, not just once.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FA7EEB-9491-4639-A8FB-07D6C93510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non-negotiable slide — read through calmly and clearly.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156EA8-B97E-4702-A6B0-D2B51D5404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 with energy — recap what we covered and get everyone excited to start.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E25F24-5957-4C90-BFC1-C0487A3349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Welcome everyone, set energy high. Introduce the club and today's agenda.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872578-8153-4223-A1E3-5210374F6D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what we'll cover today at a high level.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5BA7DC-5B75-4ED5-A211-C603283025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Give a quick, energetic taste of the sport before diving into our build.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CBE367-F38E-4A17-BD1B-D8E010EAC0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 format simply: how you win, why it's approachable for our club to enter.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FC8386-15CA-4DC9-8EE2-8D51A9D059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Introduce the robot's three functional systems: brain, drive, weapon.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497BC9-C811-44E7-AEE7-756C6B0621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the phone-as-controller approach and why it's simpler than RC gear.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B31D95-F015-4886-ADF0-07A5C6D60C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 the core parts we'll each need to source before building.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2DAF03-9F54-4B51-A3A8-5D8F777B25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the five stages of the build in order.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4D0BE0-16F8-45B7-8EC7-B800E6AF22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 the pin reference at a moderate level of detail, not the full wiring diagram.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BC7092-53A1-405E-BB75-2B08E3E4AC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key safety concept: the robot always boots stopped and needs an explicit activate.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28D433-F6A0-4C12-A045-738AEEAF531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actually connecting and driving once at the club 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CE7B47-FB56-4256-8D16-1E0820A97B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Emphasize this is run every single time, not just once.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F0B598-B984-4BED-AE4A-8AC85D4EEB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non-negotiable slide — read through calmly and clearly.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82FB71-4255-4675-8585-0B8E9264A5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 with energy — recap what we covered and get everyone excited to start.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D224C8-D7C5-44F4-812B-8F79A4CE1A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18154800" y="0"/>
            <a:ext cx="132840" cy="1028664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10153800"/>
            <a:ext cx="18287640" cy="13284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1047600" y="1023840"/>
            <a:ext cx="132840" cy="132840"/>
          </a:xfrm>
          <a:prstGeom prst="rect">
            <a:avLst/>
          </a:prstGeom>
          <a:solidFill>
            <a:srgbClr val="C8FF3D"/>
          </a:solidFill>
          <a:ln w="0">
            <a:noFill/>
          </a:ln>
          <a:effectLst>
            <a:outerShdw algn="bl" blurRad="190440" dir="16200000" dist="50760" kx="0" ky="0" rotWithShape="0" sx="100000" sy="100000">
              <a:srgbClr val="C8FF3D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1333440" y="952560"/>
            <a:ext cx="26280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KICKOFF MEETING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047600" y="3825000"/>
            <a:ext cx="16678080" cy="16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86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BUILDING OUR ANTWEIGHT COMBAT ROBOT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1047600" y="5585760"/>
            <a:ext cx="178113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One pound of pure attitude, driven from your phone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1047600" y="8639280"/>
            <a:ext cx="25401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pc="187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WEIGHT CLASS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1047600" y="8924760"/>
            <a:ext cx="25401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Antweight · 1 lb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3966840" y="8639280"/>
            <a:ext cx="27082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pc="187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CONTROL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3966840" y="8924760"/>
            <a:ext cx="27082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Wi-Fi + Browser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TODAY'S SESSION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AGENDA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2"/>
          <p:cNvSpPr/>
          <p:nvPr/>
        </p:nvSpPr>
        <p:spPr>
          <a:xfrm>
            <a:off x="1047600" y="382896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1047600" y="282888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2038320" y="3038400"/>
            <a:ext cx="51390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What is antweight combat robotics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5"/>
          <p:cNvSpPr/>
          <p:nvPr/>
        </p:nvSpPr>
        <p:spPr>
          <a:xfrm>
            <a:off x="1047600" y="511488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047600" y="411480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7"/>
          <p:cNvSpPr/>
          <p:nvPr/>
        </p:nvSpPr>
        <p:spPr>
          <a:xfrm>
            <a:off x="2038320" y="4324320"/>
            <a:ext cx="38617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Meet our robot, AntBot-S3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8"/>
          <p:cNvSpPr/>
          <p:nvPr/>
        </p:nvSpPr>
        <p:spPr>
          <a:xfrm>
            <a:off x="1047600" y="640080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9"/>
          <p:cNvSpPr/>
          <p:nvPr/>
        </p:nvSpPr>
        <p:spPr>
          <a:xfrm>
            <a:off x="1047600" y="540072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0"/>
          <p:cNvSpPr/>
          <p:nvPr/>
        </p:nvSpPr>
        <p:spPr>
          <a:xfrm>
            <a:off x="2038320" y="5610240"/>
            <a:ext cx="3710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What we'll need to build it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1"/>
          <p:cNvSpPr/>
          <p:nvPr/>
        </p:nvSpPr>
        <p:spPr>
          <a:xfrm>
            <a:off x="9296280" y="382896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2"/>
          <p:cNvSpPr/>
          <p:nvPr/>
        </p:nvSpPr>
        <p:spPr>
          <a:xfrm>
            <a:off x="9296280" y="282888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3"/>
          <p:cNvSpPr/>
          <p:nvPr/>
        </p:nvSpPr>
        <p:spPr>
          <a:xfrm>
            <a:off x="10287000" y="3038400"/>
            <a:ext cx="43588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How we'll build it, step by step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4"/>
          <p:cNvSpPr/>
          <p:nvPr/>
        </p:nvSpPr>
        <p:spPr>
          <a:xfrm>
            <a:off x="9296280" y="511488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5"/>
          <p:cNvSpPr/>
          <p:nvPr/>
        </p:nvSpPr>
        <p:spPr>
          <a:xfrm>
            <a:off x="9296280" y="411480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6"/>
          <p:cNvSpPr/>
          <p:nvPr/>
        </p:nvSpPr>
        <p:spPr>
          <a:xfrm>
            <a:off x="10287000" y="4324320"/>
            <a:ext cx="3660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Driving and safety basics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7"/>
          <p:cNvSpPr/>
          <p:nvPr/>
        </p:nvSpPr>
        <p:spPr>
          <a:xfrm>
            <a:off x="9296280" y="640080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8"/>
          <p:cNvSpPr/>
          <p:nvPr/>
        </p:nvSpPr>
        <p:spPr>
          <a:xfrm>
            <a:off x="9296280" y="540072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9"/>
          <p:cNvSpPr/>
          <p:nvPr/>
        </p:nvSpPr>
        <p:spPr>
          <a:xfrm>
            <a:off x="10287000" y="5610240"/>
            <a:ext cx="3589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Getting started together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THE SPORT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WHAT IS ANTWEIGHT COMBAT ROBOTICS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"/>
          <p:cNvSpPr/>
          <p:nvPr/>
        </p:nvSpPr>
        <p:spPr>
          <a:xfrm>
            <a:off x="1047600" y="4705200"/>
            <a:ext cx="8427600" cy="14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33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Two remote-controlled robots, one arena, three minutes. Builders design and drive machines armed with spinners, wedges, and hammers — and the last one still moving wins.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3"/>
          <p:cNvSpPr/>
          <p:nvPr/>
        </p:nvSpPr>
        <p:spPr>
          <a:xfrm>
            <a:off x="1047600" y="6381720"/>
            <a:ext cx="235260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pc="54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1 lb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1047600" y="7362720"/>
            <a:ext cx="23526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Antweight class limit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3643920" y="6381720"/>
            <a:ext cx="234360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pc="54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3 min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6"/>
          <p:cNvSpPr/>
          <p:nvPr/>
        </p:nvSpPr>
        <p:spPr>
          <a:xfrm>
            <a:off x="3643920" y="7362720"/>
            <a:ext cx="23436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Typical match length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7"/>
          <p:cNvSpPr/>
          <p:nvPr/>
        </p:nvSpPr>
        <p:spPr>
          <a:xfrm>
            <a:off x="9801720" y="2828880"/>
            <a:ext cx="7438320" cy="6695640"/>
          </a:xfrm>
          <a:prstGeom prst="rect">
            <a:avLst/>
          </a:prstGeom>
          <a:solidFill>
            <a:srgbClr val="2A2E33"/>
          </a:solidFill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8"/>
          <p:cNvSpPr/>
          <p:nvPr/>
        </p:nvSpPr>
        <p:spPr>
          <a:xfrm>
            <a:off x="10090800" y="5853240"/>
            <a:ext cx="6860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565C64"/>
                </a:solidFill>
                <a:effectLst/>
                <a:uFillTx/>
                <a:latin typeface="Courier New"/>
                <a:ea typeface="Courier New"/>
              </a:rPr>
              <a:t>PHOTO: antweight bots battling in a combat arena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THE SPORT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HOW A MATCH IS WON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"/>
          <p:cNvSpPr/>
          <p:nvPr/>
        </p:nvSpPr>
        <p:spPr>
          <a:xfrm>
            <a:off x="1047600" y="2828880"/>
            <a:ext cx="5168520" cy="258552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3"/>
          <p:cNvSpPr/>
          <p:nvPr/>
        </p:nvSpPr>
        <p:spPr>
          <a:xfrm>
            <a:off x="1047600" y="2828880"/>
            <a:ext cx="5168520" cy="5688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4"/>
          <p:cNvSpPr/>
          <p:nvPr/>
        </p:nvSpPr>
        <p:spPr>
          <a:xfrm>
            <a:off x="1428840" y="3267000"/>
            <a:ext cx="484740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31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Knockout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5"/>
          <p:cNvSpPr/>
          <p:nvPr/>
        </p:nvSpPr>
        <p:spPr>
          <a:xfrm>
            <a:off x="1428840" y="3962520"/>
            <a:ext cx="453888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9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75000"/>
                  </a:srgbClr>
                </a:solidFill>
                <a:effectLst/>
                <a:uFillTx/>
                <a:latin typeface="Arial"/>
                <a:ea typeface="Arial"/>
              </a:rPr>
              <a:t>Immobilize the other bot completely and the match ends early — the clearest win in the sport.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6"/>
          <p:cNvSpPr/>
          <p:nvPr/>
        </p:nvSpPr>
        <p:spPr>
          <a:xfrm>
            <a:off x="6559560" y="2828880"/>
            <a:ext cx="5168520" cy="258552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7"/>
          <p:cNvSpPr/>
          <p:nvPr/>
        </p:nvSpPr>
        <p:spPr>
          <a:xfrm>
            <a:off x="6559560" y="2828880"/>
            <a:ext cx="5168520" cy="56880"/>
          </a:xfrm>
          <a:prstGeom prst="rect">
            <a:avLst/>
          </a:prstGeom>
          <a:solidFill>
            <a:srgbClr val="C8FF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8"/>
          <p:cNvSpPr/>
          <p:nvPr/>
        </p:nvSpPr>
        <p:spPr>
          <a:xfrm>
            <a:off x="6940440" y="3267000"/>
            <a:ext cx="484740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31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Judges' Decision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9"/>
          <p:cNvSpPr/>
          <p:nvPr/>
        </p:nvSpPr>
        <p:spPr>
          <a:xfrm>
            <a:off x="6940440" y="3962520"/>
            <a:ext cx="453888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9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75000"/>
                  </a:srgbClr>
                </a:solidFill>
                <a:effectLst/>
                <a:uFillTx/>
                <a:latin typeface="Arial"/>
                <a:ea typeface="Arial"/>
              </a:rPr>
              <a:t>If time runs out, judges score on damage dealt, control, and aggression to pick a winner.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0"/>
          <p:cNvSpPr/>
          <p:nvPr/>
        </p:nvSpPr>
        <p:spPr>
          <a:xfrm>
            <a:off x="12071520" y="2828880"/>
            <a:ext cx="5168520" cy="258552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1"/>
          <p:cNvSpPr/>
          <p:nvPr/>
        </p:nvSpPr>
        <p:spPr>
          <a:xfrm>
            <a:off x="12071520" y="2828880"/>
            <a:ext cx="5168520" cy="56880"/>
          </a:xfrm>
          <a:prstGeom prst="rect">
            <a:avLst/>
          </a:prstGeom>
          <a:solidFill>
            <a:srgbClr val="ECEA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2"/>
          <p:cNvSpPr/>
          <p:nvPr/>
        </p:nvSpPr>
        <p:spPr>
          <a:xfrm>
            <a:off x="12452400" y="3267000"/>
            <a:ext cx="484740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31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Weapon Styles Vary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3"/>
          <p:cNvSpPr/>
          <p:nvPr/>
        </p:nvSpPr>
        <p:spPr>
          <a:xfrm>
            <a:off x="12452400" y="3962520"/>
            <a:ext cx="453888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9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75000"/>
                  </a:srgbClr>
                </a:solidFill>
                <a:effectLst/>
                <a:uFillTx/>
                <a:latin typeface="Arial"/>
                <a:ea typeface="Arial"/>
              </a:rPr>
              <a:t>Spinners, flippers, wedges, and hammers are all common — our build uses a spinning weapon.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OUR ROBOT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MEET ANTBOT-S3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"/>
          <p:cNvSpPr/>
          <p:nvPr/>
        </p:nvSpPr>
        <p:spPr>
          <a:xfrm>
            <a:off x="1047600" y="2600280"/>
            <a:ext cx="5508360" cy="153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CEAE4">
                    <a:alpha val="80000"/>
                  </a:srgbClr>
                </a:solidFill>
                <a:effectLst/>
                <a:uFillTx/>
                <a:latin typeface="Arial"/>
                <a:ea typeface="Arial"/>
              </a:rPr>
              <a:t>A microcontroller board is the entire brain — it makes its own Wi-Fi network, so a phone or laptop can drive it straight from a browser. No transmitter, no receiver, no radio gear.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"/>
          <p:cNvSpPr/>
          <p:nvPr/>
        </p:nvSpPr>
        <p:spPr>
          <a:xfrm>
            <a:off x="1047600" y="4265280"/>
            <a:ext cx="5347800" cy="1314000"/>
          </a:xfrm>
          <a:prstGeom prst="rect">
            <a:avLst/>
          </a:prstGeom>
          <a:solidFill>
            <a:srgbClr val="1D2024"/>
          </a:solidFill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4"/>
          <p:cNvSpPr/>
          <p:nvPr/>
        </p:nvSpPr>
        <p:spPr>
          <a:xfrm>
            <a:off x="1333440" y="4784400"/>
            <a:ext cx="1361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45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BRAIN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5"/>
          <p:cNvSpPr/>
          <p:nvPr/>
        </p:nvSpPr>
        <p:spPr>
          <a:xfrm>
            <a:off x="2800440" y="4436640"/>
            <a:ext cx="36406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pc="2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ESP32-S3 DevKit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"/>
          <p:cNvSpPr/>
          <p:nvPr/>
        </p:nvSpPr>
        <p:spPr>
          <a:xfrm>
            <a:off x="2800440" y="4836960"/>
            <a:ext cx="34088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7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Hosts Wi-Fi, turns joystick input into motor commands.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7"/>
          <p:cNvSpPr/>
          <p:nvPr/>
        </p:nvSpPr>
        <p:spPr>
          <a:xfrm>
            <a:off x="1047600" y="5713200"/>
            <a:ext cx="5347800" cy="1314000"/>
          </a:xfrm>
          <a:prstGeom prst="rect">
            <a:avLst/>
          </a:prstGeom>
          <a:solidFill>
            <a:srgbClr val="1D2024"/>
          </a:solidFill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8"/>
          <p:cNvSpPr/>
          <p:nvPr/>
        </p:nvSpPr>
        <p:spPr>
          <a:xfrm>
            <a:off x="1333440" y="6232320"/>
            <a:ext cx="1361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45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DRIVE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9"/>
          <p:cNvSpPr/>
          <p:nvPr/>
        </p:nvSpPr>
        <p:spPr>
          <a:xfrm>
            <a:off x="2800440" y="5884560"/>
            <a:ext cx="36406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pc="2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DRV8833 + 2× N20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0"/>
          <p:cNvSpPr/>
          <p:nvPr/>
        </p:nvSpPr>
        <p:spPr>
          <a:xfrm>
            <a:off x="2800440" y="6284520"/>
            <a:ext cx="34088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7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Tank steering, two gear motors, brakes to a stop.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1"/>
          <p:cNvSpPr/>
          <p:nvPr/>
        </p:nvSpPr>
        <p:spPr>
          <a:xfrm>
            <a:off x="1047600" y="7160760"/>
            <a:ext cx="5347800" cy="1028520"/>
          </a:xfrm>
          <a:prstGeom prst="rect">
            <a:avLst/>
          </a:prstGeom>
          <a:solidFill>
            <a:srgbClr val="1D2024"/>
          </a:solidFill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2"/>
          <p:cNvSpPr/>
          <p:nvPr/>
        </p:nvSpPr>
        <p:spPr>
          <a:xfrm>
            <a:off x="1333440" y="7536960"/>
            <a:ext cx="1361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45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WEAPON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3"/>
          <p:cNvSpPr/>
          <p:nvPr/>
        </p:nvSpPr>
        <p:spPr>
          <a:xfrm>
            <a:off x="2800440" y="7332480"/>
            <a:ext cx="26834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pc="2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Brushless ESC + Motor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4"/>
          <p:cNvSpPr/>
          <p:nvPr/>
        </p:nvSpPr>
        <p:spPr>
          <a:xfrm>
            <a:off x="2800440" y="7732440"/>
            <a:ext cx="26834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7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Throttle only, no reverse.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5"/>
          <p:cNvSpPr/>
          <p:nvPr/>
        </p:nvSpPr>
        <p:spPr>
          <a:xfrm>
            <a:off x="6853320" y="2600280"/>
            <a:ext cx="10386720" cy="6924240"/>
          </a:xfrm>
          <a:prstGeom prst="rect">
            <a:avLst/>
          </a:prstGeom>
          <a:solidFill>
            <a:srgbClr val="ECEAE4"/>
          </a:solidFill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Image 0" descr="preencoded.png"/>
          <p:cNvPicPr/>
          <p:nvPr/>
        </p:nvPicPr>
        <p:blipFill>
          <a:blip r:embed="rId1"/>
          <a:srcRect l="-24996" t="0" r="-24996" b="0"/>
          <a:stretch/>
        </p:blipFill>
        <p:spPr>
          <a:xfrm>
            <a:off x="6853320" y="2600280"/>
            <a:ext cx="10386720" cy="692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OUR ROBOT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DRIVEN BY WI-FI, NOT RADIO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1047600" y="4794840"/>
            <a:ext cx="60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"/>
          <p:cNvSpPr/>
          <p:nvPr/>
        </p:nvSpPr>
        <p:spPr>
          <a:xfrm>
            <a:off x="1771560" y="4794840"/>
            <a:ext cx="774720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4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The robot creates its own Wi-Fi network on power-up.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4"/>
          <p:cNvSpPr/>
          <p:nvPr/>
        </p:nvSpPr>
        <p:spPr>
          <a:xfrm>
            <a:off x="1047600" y="5623560"/>
            <a:ext cx="553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1716120" y="5623560"/>
            <a:ext cx="735588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4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Your phone or laptop joins that network and opens a browser.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1047600" y="6705720"/>
            <a:ext cx="4986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7"/>
          <p:cNvSpPr/>
          <p:nvPr/>
        </p:nvSpPr>
        <p:spPr>
          <a:xfrm>
            <a:off x="1661040" y="6705720"/>
            <a:ext cx="741276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4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A joystick and weapon slider load right on the page — no app to install.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8"/>
          <p:cNvSpPr/>
          <p:nvPr/>
        </p:nvSpPr>
        <p:spPr>
          <a:xfrm>
            <a:off x="9429840" y="2828880"/>
            <a:ext cx="7810200" cy="6695640"/>
          </a:xfrm>
          <a:prstGeom prst="rect">
            <a:avLst/>
          </a:prstGeom>
          <a:solidFill>
            <a:srgbClr val="15171A"/>
          </a:solidFill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9"/>
          <p:cNvSpPr/>
          <p:nvPr/>
        </p:nvSpPr>
        <p:spPr>
          <a:xfrm>
            <a:off x="12287160" y="4853160"/>
            <a:ext cx="2095200" cy="2095200"/>
          </a:xfrm>
          <a:prstGeom prst="ellipse">
            <a:avLst/>
          </a:prstGeom>
          <a:noFill/>
          <a:ln w="3810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0"/>
          <p:cNvSpPr/>
          <p:nvPr/>
        </p:nvSpPr>
        <p:spPr>
          <a:xfrm>
            <a:off x="12906360" y="5472000"/>
            <a:ext cx="856800" cy="856800"/>
          </a:xfrm>
          <a:prstGeom prst="ellipse">
            <a:avLst/>
          </a:prstGeom>
          <a:solidFill>
            <a:srgbClr val="C8FF3D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1"/>
          <p:cNvSpPr/>
          <p:nvPr/>
        </p:nvSpPr>
        <p:spPr>
          <a:xfrm>
            <a:off x="10977480" y="7176960"/>
            <a:ext cx="518616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565C64"/>
                </a:solidFill>
                <a:effectLst/>
                <a:uFillTx/>
                <a:latin typeface="Courier New"/>
                <a:ea typeface="Courier New"/>
              </a:rPr>
              <a:t>on-screen joystick, phone browser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THE BUILD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WHAT WE'LL NEED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"/>
          <p:cNvSpPr/>
          <p:nvPr/>
        </p:nvSpPr>
        <p:spPr>
          <a:xfrm>
            <a:off x="1047600" y="2828880"/>
            <a:ext cx="16192080" cy="6695640"/>
          </a:xfrm>
          <a:prstGeom prst="rect">
            <a:avLst/>
          </a:prstGeom>
          <a:noFill/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3"/>
          <p:cNvSpPr/>
          <p:nvPr/>
        </p:nvSpPr>
        <p:spPr>
          <a:xfrm>
            <a:off x="1066680" y="2847960"/>
            <a:ext cx="16153920" cy="704520"/>
          </a:xfrm>
          <a:prstGeom prst="rect">
            <a:avLst/>
          </a:prstGeom>
          <a:solidFill>
            <a:srgbClr val="2A2E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4"/>
          <p:cNvSpPr/>
          <p:nvPr/>
        </p:nvSpPr>
        <p:spPr>
          <a:xfrm>
            <a:off x="1409760" y="305748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pc="150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PART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5"/>
          <p:cNvSpPr/>
          <p:nvPr/>
        </p:nvSpPr>
        <p:spPr>
          <a:xfrm>
            <a:off x="7359120" y="305748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pc="150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SPEC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"/>
          <p:cNvSpPr/>
          <p:nvPr/>
        </p:nvSpPr>
        <p:spPr>
          <a:xfrm>
            <a:off x="14498640" y="305748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pc="150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QTY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7"/>
          <p:cNvSpPr/>
          <p:nvPr/>
        </p:nvSpPr>
        <p:spPr>
          <a:xfrm>
            <a:off x="1066680" y="355284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8"/>
          <p:cNvSpPr/>
          <p:nvPr/>
        </p:nvSpPr>
        <p:spPr>
          <a:xfrm>
            <a:off x="1409760" y="375300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2S LiPo Battery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9"/>
          <p:cNvSpPr/>
          <p:nvPr/>
        </p:nvSpPr>
        <p:spPr>
          <a:xfrm>
            <a:off x="7359120" y="375300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7.4V nominal, high discharge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0"/>
          <p:cNvSpPr/>
          <p:nvPr/>
        </p:nvSpPr>
        <p:spPr>
          <a:xfrm>
            <a:off x="14498640" y="375300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1"/>
          <p:cNvSpPr/>
          <p:nvPr/>
        </p:nvSpPr>
        <p:spPr>
          <a:xfrm>
            <a:off x="1066680" y="422928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2"/>
          <p:cNvSpPr/>
          <p:nvPr/>
        </p:nvSpPr>
        <p:spPr>
          <a:xfrm>
            <a:off x="1409760" y="442908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ESP32-S3 DevKit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3"/>
          <p:cNvSpPr/>
          <p:nvPr/>
        </p:nvSpPr>
        <p:spPr>
          <a:xfrm>
            <a:off x="7359120" y="442908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Board with onboard RGB status LED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4"/>
          <p:cNvSpPr/>
          <p:nvPr/>
        </p:nvSpPr>
        <p:spPr>
          <a:xfrm>
            <a:off x="14498640" y="442908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5"/>
          <p:cNvSpPr/>
          <p:nvPr/>
        </p:nvSpPr>
        <p:spPr>
          <a:xfrm>
            <a:off x="1066680" y="490536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6"/>
          <p:cNvSpPr/>
          <p:nvPr/>
        </p:nvSpPr>
        <p:spPr>
          <a:xfrm>
            <a:off x="1409760" y="510552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DRV8833 Motor Driver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7"/>
          <p:cNvSpPr/>
          <p:nvPr/>
        </p:nvSpPr>
        <p:spPr>
          <a:xfrm>
            <a:off x="7359120" y="510552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2-channel H-bridge breakout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8"/>
          <p:cNvSpPr/>
          <p:nvPr/>
        </p:nvSpPr>
        <p:spPr>
          <a:xfrm>
            <a:off x="14498640" y="510552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9"/>
          <p:cNvSpPr/>
          <p:nvPr/>
        </p:nvSpPr>
        <p:spPr>
          <a:xfrm>
            <a:off x="1066680" y="558180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0"/>
          <p:cNvSpPr/>
          <p:nvPr/>
        </p:nvSpPr>
        <p:spPr>
          <a:xfrm>
            <a:off x="1409760" y="578160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N20 Gear Motors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1"/>
          <p:cNvSpPr/>
          <p:nvPr/>
        </p:nvSpPr>
        <p:spPr>
          <a:xfrm>
            <a:off x="7359120" y="578160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~500 RPM class @ 6V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2"/>
          <p:cNvSpPr/>
          <p:nvPr/>
        </p:nvSpPr>
        <p:spPr>
          <a:xfrm>
            <a:off x="14498640" y="578160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3"/>
          <p:cNvSpPr/>
          <p:nvPr/>
        </p:nvSpPr>
        <p:spPr>
          <a:xfrm>
            <a:off x="1066680" y="625788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4"/>
          <p:cNvSpPr/>
          <p:nvPr/>
        </p:nvSpPr>
        <p:spPr>
          <a:xfrm>
            <a:off x="1409760" y="645804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Brushless Weapon ESC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5"/>
          <p:cNvSpPr/>
          <p:nvPr/>
        </p:nvSpPr>
        <p:spPr>
          <a:xfrm>
            <a:off x="7359120" y="645804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Slim profile, 15A, 2S, throttle-only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6"/>
          <p:cNvSpPr/>
          <p:nvPr/>
        </p:nvSpPr>
        <p:spPr>
          <a:xfrm>
            <a:off x="14498640" y="645804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7"/>
          <p:cNvSpPr/>
          <p:nvPr/>
        </p:nvSpPr>
        <p:spPr>
          <a:xfrm>
            <a:off x="1066680" y="693432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8"/>
          <p:cNvSpPr/>
          <p:nvPr/>
        </p:nvSpPr>
        <p:spPr>
          <a:xfrm>
            <a:off x="1409760" y="713412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Weapon Motor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9"/>
          <p:cNvSpPr/>
          <p:nvPr/>
        </p:nvSpPr>
        <p:spPr>
          <a:xfrm>
            <a:off x="7359120" y="713412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Brushless, sized to the ESC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0"/>
          <p:cNvSpPr/>
          <p:nvPr/>
        </p:nvSpPr>
        <p:spPr>
          <a:xfrm>
            <a:off x="14498640" y="713412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31"/>
          <p:cNvSpPr/>
          <p:nvPr/>
        </p:nvSpPr>
        <p:spPr>
          <a:xfrm>
            <a:off x="1066680" y="761040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32"/>
          <p:cNvSpPr/>
          <p:nvPr/>
        </p:nvSpPr>
        <p:spPr>
          <a:xfrm>
            <a:off x="1409760" y="781056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Connectors &amp; Wire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3"/>
          <p:cNvSpPr/>
          <p:nvPr/>
        </p:nvSpPr>
        <p:spPr>
          <a:xfrm>
            <a:off x="7359120" y="781056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JST-XH, XT30, silicone wire, heat-shrink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34"/>
          <p:cNvSpPr/>
          <p:nvPr/>
        </p:nvSpPr>
        <p:spPr>
          <a:xfrm>
            <a:off x="14498640" y="781056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—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THE BUILD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HOW WE'LL BUILD IT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"/>
          <p:cNvSpPr/>
          <p:nvPr/>
        </p:nvSpPr>
        <p:spPr>
          <a:xfrm>
            <a:off x="1047600" y="2828880"/>
            <a:ext cx="305532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"/>
          <p:cNvSpPr/>
          <p:nvPr/>
        </p:nvSpPr>
        <p:spPr>
          <a:xfrm>
            <a:off x="1047600" y="2828880"/>
            <a:ext cx="3055320" cy="3780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1295280" y="3171960"/>
            <a:ext cx="28159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pc="40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1295280" y="4038480"/>
            <a:ext cx="2815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Set Up Software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295280" y="4600440"/>
            <a:ext cx="26366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Install the Arduino IDE and get the robot's code onto your computer.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7"/>
          <p:cNvSpPr/>
          <p:nvPr/>
        </p:nvSpPr>
        <p:spPr>
          <a:xfrm>
            <a:off x="4331880" y="2828880"/>
            <a:ext cx="305532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8"/>
          <p:cNvSpPr/>
          <p:nvPr/>
        </p:nvSpPr>
        <p:spPr>
          <a:xfrm>
            <a:off x="4331880" y="2828880"/>
            <a:ext cx="3055320" cy="3780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9"/>
          <p:cNvSpPr/>
          <p:nvPr/>
        </p:nvSpPr>
        <p:spPr>
          <a:xfrm>
            <a:off x="4579560" y="3171960"/>
            <a:ext cx="28159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pc="40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0"/>
          <p:cNvSpPr/>
          <p:nvPr/>
        </p:nvSpPr>
        <p:spPr>
          <a:xfrm>
            <a:off x="4579560" y="4038480"/>
            <a:ext cx="2815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Plan The Layout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1"/>
          <p:cNvSpPr/>
          <p:nvPr/>
        </p:nvSpPr>
        <p:spPr>
          <a:xfrm>
            <a:off x="4579560" y="4600440"/>
            <a:ext cx="26366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Dry-fit battery, driver, brain, and ESC before cutting wire.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2"/>
          <p:cNvSpPr/>
          <p:nvPr/>
        </p:nvSpPr>
        <p:spPr>
          <a:xfrm>
            <a:off x="7616160" y="2828880"/>
            <a:ext cx="305532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3"/>
          <p:cNvSpPr/>
          <p:nvPr/>
        </p:nvSpPr>
        <p:spPr>
          <a:xfrm>
            <a:off x="7616160" y="2828880"/>
            <a:ext cx="3055320" cy="3780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4"/>
          <p:cNvSpPr/>
          <p:nvPr/>
        </p:nvSpPr>
        <p:spPr>
          <a:xfrm>
            <a:off x="7863840" y="3171960"/>
            <a:ext cx="28159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pc="40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5"/>
          <p:cNvSpPr/>
          <p:nvPr/>
        </p:nvSpPr>
        <p:spPr>
          <a:xfrm>
            <a:off x="7863840" y="4038480"/>
            <a:ext cx="2815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Wire The Harness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6"/>
          <p:cNvSpPr/>
          <p:nvPr/>
        </p:nvSpPr>
        <p:spPr>
          <a:xfrm>
            <a:off x="7863840" y="4600440"/>
            <a:ext cx="26366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Build power, signal, and motor connections per the pinout.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"/>
          <p:cNvSpPr/>
          <p:nvPr/>
        </p:nvSpPr>
        <p:spPr>
          <a:xfrm>
            <a:off x="10900440" y="2828880"/>
            <a:ext cx="305532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8"/>
          <p:cNvSpPr/>
          <p:nvPr/>
        </p:nvSpPr>
        <p:spPr>
          <a:xfrm>
            <a:off x="10900440" y="2828880"/>
            <a:ext cx="3055320" cy="3780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9"/>
          <p:cNvSpPr/>
          <p:nvPr/>
        </p:nvSpPr>
        <p:spPr>
          <a:xfrm>
            <a:off x="11148120" y="3171960"/>
            <a:ext cx="28159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pc="40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0"/>
          <p:cNvSpPr/>
          <p:nvPr/>
        </p:nvSpPr>
        <p:spPr>
          <a:xfrm>
            <a:off x="11148120" y="4038480"/>
            <a:ext cx="2815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Flash Firmware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1"/>
          <p:cNvSpPr/>
          <p:nvPr/>
        </p:nvSpPr>
        <p:spPr>
          <a:xfrm>
            <a:off x="11148120" y="4600440"/>
            <a:ext cx="26366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Set the pin numbers and Wi-Fi name, then upload it.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2"/>
          <p:cNvSpPr/>
          <p:nvPr/>
        </p:nvSpPr>
        <p:spPr>
          <a:xfrm>
            <a:off x="14184720" y="2828880"/>
            <a:ext cx="305532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3"/>
          <p:cNvSpPr/>
          <p:nvPr/>
        </p:nvSpPr>
        <p:spPr>
          <a:xfrm>
            <a:off x="14184720" y="2828880"/>
            <a:ext cx="3055320" cy="3780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4"/>
          <p:cNvSpPr/>
          <p:nvPr/>
        </p:nvSpPr>
        <p:spPr>
          <a:xfrm>
            <a:off x="14432400" y="3171960"/>
            <a:ext cx="28159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pc="40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5"/>
          <p:cNvSpPr/>
          <p:nvPr/>
        </p:nvSpPr>
        <p:spPr>
          <a:xfrm>
            <a:off x="14432400" y="4038480"/>
            <a:ext cx="2815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Test &amp; Drive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6"/>
          <p:cNvSpPr/>
          <p:nvPr/>
        </p:nvSpPr>
        <p:spPr>
          <a:xfrm>
            <a:off x="14432400" y="4600440"/>
            <a:ext cx="26366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Run the checklist, then drive it lifted off the ground.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THE BUILD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WIRING IT UP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1047600" y="2828880"/>
            <a:ext cx="80445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33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Every signal on the board comes straight from its own GPIO pins — five wires tell the robot how to move and fire.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3"/>
          <p:cNvSpPr/>
          <p:nvPr/>
        </p:nvSpPr>
        <p:spPr>
          <a:xfrm>
            <a:off x="1047600" y="4048200"/>
            <a:ext cx="7810200" cy="2428560"/>
          </a:xfrm>
          <a:prstGeom prst="rect">
            <a:avLst/>
          </a:prstGeom>
          <a:noFill/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"/>
          <p:cNvSpPr/>
          <p:nvPr/>
        </p:nvSpPr>
        <p:spPr>
          <a:xfrm>
            <a:off x="1066680" y="4067280"/>
            <a:ext cx="7772040" cy="618840"/>
          </a:xfrm>
          <a:prstGeom prst="rect">
            <a:avLst/>
          </a:prstGeom>
          <a:solidFill>
            <a:srgbClr val="2A2E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1333440" y="4238640"/>
            <a:ext cx="26539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08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SIGNAL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3746520" y="4238640"/>
            <a:ext cx="18954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08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GPIO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7"/>
          <p:cNvSpPr/>
          <p:nvPr/>
        </p:nvSpPr>
        <p:spPr>
          <a:xfrm>
            <a:off x="5470200" y="4238640"/>
            <a:ext cx="34124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08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GOES TO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8"/>
          <p:cNvSpPr/>
          <p:nvPr/>
        </p:nvSpPr>
        <p:spPr>
          <a:xfrm>
            <a:off x="1066680" y="4686480"/>
            <a:ext cx="777204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9"/>
          <p:cNvSpPr/>
          <p:nvPr/>
        </p:nvSpPr>
        <p:spPr>
          <a:xfrm>
            <a:off x="1333440" y="4848120"/>
            <a:ext cx="26539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WEAPON_PIN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0"/>
          <p:cNvSpPr/>
          <p:nvPr/>
        </p:nvSpPr>
        <p:spPr>
          <a:xfrm>
            <a:off x="3746520" y="4848120"/>
            <a:ext cx="18954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1"/>
          <p:cNvSpPr/>
          <p:nvPr/>
        </p:nvSpPr>
        <p:spPr>
          <a:xfrm>
            <a:off x="5470200" y="4848120"/>
            <a:ext cx="34124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Weapon ESC signal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2"/>
          <p:cNvSpPr/>
          <p:nvPr/>
        </p:nvSpPr>
        <p:spPr>
          <a:xfrm>
            <a:off x="1066680" y="5276880"/>
            <a:ext cx="777204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3"/>
          <p:cNvSpPr/>
          <p:nvPr/>
        </p:nvSpPr>
        <p:spPr>
          <a:xfrm>
            <a:off x="1333440" y="5438880"/>
            <a:ext cx="26539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L_IN1 / L_IN2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4"/>
          <p:cNvSpPr/>
          <p:nvPr/>
        </p:nvSpPr>
        <p:spPr>
          <a:xfrm>
            <a:off x="3746520" y="5438880"/>
            <a:ext cx="18954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7 / 8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5"/>
          <p:cNvSpPr/>
          <p:nvPr/>
        </p:nvSpPr>
        <p:spPr>
          <a:xfrm>
            <a:off x="5470200" y="5438880"/>
            <a:ext cx="34124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Left motor driver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6"/>
          <p:cNvSpPr/>
          <p:nvPr/>
        </p:nvSpPr>
        <p:spPr>
          <a:xfrm>
            <a:off x="1066680" y="5867280"/>
            <a:ext cx="777204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7"/>
          <p:cNvSpPr/>
          <p:nvPr/>
        </p:nvSpPr>
        <p:spPr>
          <a:xfrm>
            <a:off x="1333440" y="6029280"/>
            <a:ext cx="26539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R_IN2 / R_IN1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8"/>
          <p:cNvSpPr/>
          <p:nvPr/>
        </p:nvSpPr>
        <p:spPr>
          <a:xfrm>
            <a:off x="3746520" y="6029280"/>
            <a:ext cx="18954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9 / 10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9"/>
          <p:cNvSpPr/>
          <p:nvPr/>
        </p:nvSpPr>
        <p:spPr>
          <a:xfrm>
            <a:off x="5470200" y="6029280"/>
            <a:ext cx="34124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Right motor driver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0"/>
          <p:cNvSpPr/>
          <p:nvPr/>
        </p:nvSpPr>
        <p:spPr>
          <a:xfrm>
            <a:off x="9429840" y="4414680"/>
            <a:ext cx="7810200" cy="16664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1"/>
          <p:cNvSpPr/>
          <p:nvPr/>
        </p:nvSpPr>
        <p:spPr>
          <a:xfrm>
            <a:off x="9429840" y="4414680"/>
            <a:ext cx="56880" cy="1666440"/>
          </a:xfrm>
          <a:prstGeom prst="rect">
            <a:avLst/>
          </a:prstGeom>
          <a:solidFill>
            <a:srgbClr val="C8FF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2"/>
          <p:cNvSpPr/>
          <p:nvPr/>
        </p:nvSpPr>
        <p:spPr>
          <a:xfrm>
            <a:off x="9791640" y="4719600"/>
            <a:ext cx="78577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45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KEEP IT SIMPLE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3"/>
          <p:cNvSpPr/>
          <p:nvPr/>
        </p:nvSpPr>
        <p:spPr>
          <a:xfrm>
            <a:off x="9791640" y="5091120"/>
            <a:ext cx="735768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70000"/>
                  </a:srgbClr>
                </a:solidFill>
                <a:effectLst/>
                <a:uFillTx/>
                <a:latin typeface="Arial"/>
                <a:ea typeface="Arial"/>
              </a:rPr>
              <a:t>One shared power bus, short direct signal runs, and keyed connectors — nothing can plug in backward.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4"/>
          <p:cNvSpPr/>
          <p:nvPr/>
        </p:nvSpPr>
        <p:spPr>
          <a:xfrm>
            <a:off x="9429840" y="6272280"/>
            <a:ext cx="7810200" cy="16664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5"/>
          <p:cNvSpPr/>
          <p:nvPr/>
        </p:nvSpPr>
        <p:spPr>
          <a:xfrm>
            <a:off x="9429840" y="6272280"/>
            <a:ext cx="56880" cy="166644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6"/>
          <p:cNvSpPr/>
          <p:nvPr/>
        </p:nvSpPr>
        <p:spPr>
          <a:xfrm>
            <a:off x="9791640" y="6576840"/>
            <a:ext cx="78577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45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ONLY TWO PLUGS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7"/>
          <p:cNvSpPr/>
          <p:nvPr/>
        </p:nvSpPr>
        <p:spPr>
          <a:xfrm>
            <a:off x="9791640" y="6948360"/>
            <a:ext cx="735768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70000"/>
                  </a:srgbClr>
                </a:solidFill>
                <a:effectLst/>
                <a:uFillTx/>
                <a:latin typeface="Arial"/>
                <a:ea typeface="Arial"/>
              </a:rPr>
              <a:t>Everything else solders direct — the battery connector and the weapon signal pigtail are the only joints you'll unplug.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DRIVING &amp; SAFETY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EVERY BOOT STARTS STOPPED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"/>
          <p:cNvSpPr/>
          <p:nvPr/>
        </p:nvSpPr>
        <p:spPr>
          <a:xfrm>
            <a:off x="1047600" y="2828880"/>
            <a:ext cx="384768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3"/>
          <p:cNvSpPr/>
          <p:nvPr/>
        </p:nvSpPr>
        <p:spPr>
          <a:xfrm>
            <a:off x="1047600" y="2828880"/>
            <a:ext cx="3847680" cy="56880"/>
          </a:xfrm>
          <a:prstGeom prst="rect">
            <a:avLst/>
          </a:prstGeom>
          <a:solidFill>
            <a:srgbClr val="565C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4"/>
          <p:cNvSpPr/>
          <p:nvPr/>
        </p:nvSpPr>
        <p:spPr>
          <a:xfrm>
            <a:off x="1390680" y="3228840"/>
            <a:ext cx="190080" cy="190080"/>
          </a:xfrm>
          <a:prstGeom prst="ellipse">
            <a:avLst/>
          </a:prstGeom>
          <a:solidFill>
            <a:srgbClr val="565C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1390680" y="3552840"/>
            <a:ext cx="34783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Boot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1390680" y="4124160"/>
            <a:ext cx="325692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Motors braked, weapon held at zero throttle for 3 seconds while the ESC arms.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7"/>
          <p:cNvSpPr/>
          <p:nvPr/>
        </p:nvSpPr>
        <p:spPr>
          <a:xfrm>
            <a:off x="5162400" y="2828880"/>
            <a:ext cx="384768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5162400" y="2828880"/>
            <a:ext cx="3847680" cy="56880"/>
          </a:xfrm>
          <a:prstGeom prst="rect">
            <a:avLst/>
          </a:prstGeom>
          <a:solidFill>
            <a:srgbClr val="C8FF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9"/>
          <p:cNvSpPr/>
          <p:nvPr/>
        </p:nvSpPr>
        <p:spPr>
          <a:xfrm>
            <a:off x="5505480" y="3228840"/>
            <a:ext cx="190080" cy="190080"/>
          </a:xfrm>
          <a:prstGeom prst="ellipse">
            <a:avLst/>
          </a:prstGeom>
          <a:solidFill>
            <a:srgbClr val="C8FF3D"/>
          </a:solidFill>
          <a:ln w="0">
            <a:noFill/>
          </a:ln>
          <a:effectLst>
            <a:outerShdw algn="bl" blurRad="190440" dir="16200000" dist="50760" kx="0" ky="0" rotWithShape="0" sx="100000" sy="100000">
              <a:srgbClr val="C8FF3D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0"/>
          <p:cNvSpPr/>
          <p:nvPr/>
        </p:nvSpPr>
        <p:spPr>
          <a:xfrm>
            <a:off x="5505480" y="3552840"/>
            <a:ext cx="34783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Ready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1"/>
          <p:cNvSpPr/>
          <p:nvPr/>
        </p:nvSpPr>
        <p:spPr>
          <a:xfrm>
            <a:off x="5505480" y="4124160"/>
            <a:ext cx="325692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LED turns solid — Wi-Fi is up, waiting for a browser to connect.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12"/>
          <p:cNvSpPr/>
          <p:nvPr/>
        </p:nvSpPr>
        <p:spPr>
          <a:xfrm>
            <a:off x="9277200" y="2828880"/>
            <a:ext cx="384768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3"/>
          <p:cNvSpPr/>
          <p:nvPr/>
        </p:nvSpPr>
        <p:spPr>
          <a:xfrm>
            <a:off x="9277200" y="2828880"/>
            <a:ext cx="3847680" cy="5688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4"/>
          <p:cNvSpPr/>
          <p:nvPr/>
        </p:nvSpPr>
        <p:spPr>
          <a:xfrm>
            <a:off x="9620280" y="3228840"/>
            <a:ext cx="190080" cy="190080"/>
          </a:xfrm>
          <a:prstGeom prst="ellipse">
            <a:avLst/>
          </a:prstGeom>
          <a:solidFill>
            <a:srgbClr val="FF6A1A"/>
          </a:solidFill>
          <a:ln w="0">
            <a:noFill/>
          </a:ln>
          <a:effectLst>
            <a:outerShdw algn="bl" blurRad="190440" dir="16200000" dist="50760" kx="0" ky="0" rotWithShape="0" sx="100000" sy="100000">
              <a:srgbClr val="FF6A1A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5"/>
          <p:cNvSpPr/>
          <p:nvPr/>
        </p:nvSpPr>
        <p:spPr>
          <a:xfrm>
            <a:off x="9620280" y="3552840"/>
            <a:ext cx="34783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Armed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6"/>
          <p:cNvSpPr/>
          <p:nvPr/>
        </p:nvSpPr>
        <p:spPr>
          <a:xfrm>
            <a:off x="9620280" y="4124160"/>
            <a:ext cx="325692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Tap ACTIVATE in the browser — bot is now live at zero throttle.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7"/>
          <p:cNvSpPr/>
          <p:nvPr/>
        </p:nvSpPr>
        <p:spPr>
          <a:xfrm>
            <a:off x="13392000" y="2828880"/>
            <a:ext cx="384768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8"/>
          <p:cNvSpPr/>
          <p:nvPr/>
        </p:nvSpPr>
        <p:spPr>
          <a:xfrm>
            <a:off x="13392000" y="2828880"/>
            <a:ext cx="3847680" cy="56880"/>
          </a:xfrm>
          <a:prstGeom prst="rect">
            <a:avLst/>
          </a:prstGeom>
          <a:solidFill>
            <a:srgbClr val="FF3B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9"/>
          <p:cNvSpPr/>
          <p:nvPr/>
        </p:nvSpPr>
        <p:spPr>
          <a:xfrm>
            <a:off x="13735080" y="3228840"/>
            <a:ext cx="190080" cy="190080"/>
          </a:xfrm>
          <a:prstGeom prst="ellipse">
            <a:avLst/>
          </a:prstGeom>
          <a:solidFill>
            <a:srgbClr val="FF3B3B"/>
          </a:solidFill>
          <a:ln w="0">
            <a:noFill/>
          </a:ln>
          <a:effectLst>
            <a:outerShdw algn="bl" blurRad="190440" dir="16200000" dist="50760" kx="0" ky="0" rotWithShape="0" sx="100000" sy="100000">
              <a:srgbClr val="FF3B3B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0"/>
          <p:cNvSpPr/>
          <p:nvPr/>
        </p:nvSpPr>
        <p:spPr>
          <a:xfrm>
            <a:off x="13735080" y="3552840"/>
            <a:ext cx="34783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Failsafe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1"/>
          <p:cNvSpPr/>
          <p:nvPr/>
        </p:nvSpPr>
        <p:spPr>
          <a:xfrm>
            <a:off x="13735080" y="4124160"/>
            <a:ext cx="325692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Lose the link or hit STOP ALL for 1.2 seconds and it re-latches instantly.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DRIVING &amp; SAFETY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DRIVING THE BOT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"/>
          <p:cNvSpPr/>
          <p:nvPr/>
        </p:nvSpPr>
        <p:spPr>
          <a:xfrm>
            <a:off x="1047600" y="2828880"/>
            <a:ext cx="3847680" cy="66956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3"/>
          <p:cNvSpPr/>
          <p:nvPr/>
        </p:nvSpPr>
        <p:spPr>
          <a:xfrm>
            <a:off x="1352520" y="3133800"/>
            <a:ext cx="3561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4"/>
          <p:cNvSpPr/>
          <p:nvPr/>
        </p:nvSpPr>
        <p:spPr>
          <a:xfrm>
            <a:off x="1352520" y="3867120"/>
            <a:ext cx="33354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Join the robot's Wi-Fi network from your phone or laptop.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5"/>
          <p:cNvSpPr/>
          <p:nvPr/>
        </p:nvSpPr>
        <p:spPr>
          <a:xfrm>
            <a:off x="5162400" y="2828880"/>
            <a:ext cx="3847680" cy="66956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6"/>
          <p:cNvSpPr/>
          <p:nvPr/>
        </p:nvSpPr>
        <p:spPr>
          <a:xfrm>
            <a:off x="5467320" y="3133800"/>
            <a:ext cx="3561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7"/>
          <p:cNvSpPr/>
          <p:nvPr/>
        </p:nvSpPr>
        <p:spPr>
          <a:xfrm>
            <a:off x="5467320" y="3867120"/>
            <a:ext cx="333540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Open a browser to the robot's address — the joystick page loads automatically.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8"/>
          <p:cNvSpPr/>
          <p:nvPr/>
        </p:nvSpPr>
        <p:spPr>
          <a:xfrm>
            <a:off x="9277200" y="2828880"/>
            <a:ext cx="3847680" cy="66956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9"/>
          <p:cNvSpPr/>
          <p:nvPr/>
        </p:nvSpPr>
        <p:spPr>
          <a:xfrm>
            <a:off x="9582120" y="3133800"/>
            <a:ext cx="3561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0"/>
          <p:cNvSpPr/>
          <p:nvPr/>
        </p:nvSpPr>
        <p:spPr>
          <a:xfrm>
            <a:off x="9582120" y="3867120"/>
            <a:ext cx="333540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Tap ACTIVATE, then drag the pad to drive and the slider to spin the weapon.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1"/>
          <p:cNvSpPr/>
          <p:nvPr/>
        </p:nvSpPr>
        <p:spPr>
          <a:xfrm>
            <a:off x="13392000" y="2828880"/>
            <a:ext cx="3847680" cy="66956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2"/>
          <p:cNvSpPr/>
          <p:nvPr/>
        </p:nvSpPr>
        <p:spPr>
          <a:xfrm>
            <a:off x="13696920" y="3133800"/>
            <a:ext cx="3561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FF3B3B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3"/>
          <p:cNvSpPr/>
          <p:nvPr/>
        </p:nvSpPr>
        <p:spPr>
          <a:xfrm>
            <a:off x="13696920" y="3867120"/>
            <a:ext cx="33354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Tap STOP ALL — or hit Escape — any time to hard-stop instantly.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PRE-FLIGHT CHECKLIST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BEFORE EVERY RUN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2"/>
          <p:cNvSpPr/>
          <p:nvPr/>
        </p:nvSpPr>
        <p:spPr>
          <a:xfrm>
            <a:off x="1047600" y="286704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3"/>
          <p:cNvSpPr/>
          <p:nvPr/>
        </p:nvSpPr>
        <p:spPr>
          <a:xfrm>
            <a:off x="1504800" y="2828880"/>
            <a:ext cx="49356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Battery voltage checked before connecting.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4"/>
          <p:cNvSpPr/>
          <p:nvPr/>
        </p:nvSpPr>
        <p:spPr>
          <a:xfrm>
            <a:off x="9429840" y="286704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5"/>
          <p:cNvSpPr/>
          <p:nvPr/>
        </p:nvSpPr>
        <p:spPr>
          <a:xfrm>
            <a:off x="9887040" y="2828880"/>
            <a:ext cx="46090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No exposed wiring, all heat-shrink intact.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6"/>
          <p:cNvSpPr/>
          <p:nvPr/>
        </p:nvSpPr>
        <p:spPr>
          <a:xfrm>
            <a:off x="1047600" y="342900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7"/>
          <p:cNvSpPr/>
          <p:nvPr/>
        </p:nvSpPr>
        <p:spPr>
          <a:xfrm>
            <a:off x="1504800" y="3390840"/>
            <a:ext cx="43840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Weapon area clear of fingers and tools.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8"/>
          <p:cNvSpPr/>
          <p:nvPr/>
        </p:nvSpPr>
        <p:spPr>
          <a:xfrm>
            <a:off x="9429840" y="342900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9"/>
          <p:cNvSpPr/>
          <p:nvPr/>
        </p:nvSpPr>
        <p:spPr>
          <a:xfrm>
            <a:off x="9887040" y="3390840"/>
            <a:ext cx="51256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Status LED confirmed solid before activating.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0"/>
          <p:cNvSpPr/>
          <p:nvPr/>
        </p:nvSpPr>
        <p:spPr>
          <a:xfrm>
            <a:off x="1047600" y="399096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1"/>
          <p:cNvSpPr/>
          <p:nvPr/>
        </p:nvSpPr>
        <p:spPr>
          <a:xfrm>
            <a:off x="1504800" y="3952800"/>
            <a:ext cx="5391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First test drive done with wheels off the ground.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2"/>
          <p:cNvSpPr/>
          <p:nvPr/>
        </p:nvSpPr>
        <p:spPr>
          <a:xfrm>
            <a:off x="9429840" y="399096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3"/>
          <p:cNvSpPr/>
          <p:nvPr/>
        </p:nvSpPr>
        <p:spPr>
          <a:xfrm>
            <a:off x="9887040" y="3952800"/>
            <a:ext cx="47048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Weapon tested briefly at low throttle first.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4"/>
          <p:cNvSpPr/>
          <p:nvPr/>
        </p:nvSpPr>
        <p:spPr>
          <a:xfrm>
            <a:off x="1047600" y="455292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5"/>
          <p:cNvSpPr/>
          <p:nvPr/>
        </p:nvSpPr>
        <p:spPr>
          <a:xfrm>
            <a:off x="1504800" y="4514760"/>
            <a:ext cx="5173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Failsafe confirmed by closing the browser tab.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6"/>
          <p:cNvSpPr/>
          <p:nvPr/>
        </p:nvSpPr>
        <p:spPr>
          <a:xfrm>
            <a:off x="9429840" y="455292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7"/>
          <p:cNvSpPr/>
          <p:nvPr/>
        </p:nvSpPr>
        <p:spPr>
          <a:xfrm>
            <a:off x="9887040" y="4514760"/>
            <a:ext cx="4610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STOP ALL tested and re-latch confirmed.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 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3B3B"/>
                </a:solidFill>
                <a:effectLst/>
                <a:uFillTx/>
                <a:latin typeface="Arial"/>
                <a:ea typeface="Arial"/>
              </a:rPr>
              <a:t>DRIVING &amp; SAFETY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RULES WE NEVER SKIP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2"/>
          <p:cNvSpPr/>
          <p:nvPr/>
        </p:nvSpPr>
        <p:spPr>
          <a:xfrm>
            <a:off x="1047600" y="5305320"/>
            <a:ext cx="142873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3"/>
          <p:cNvSpPr/>
          <p:nvPr/>
        </p:nvSpPr>
        <p:spPr>
          <a:xfrm>
            <a:off x="1047600" y="4800600"/>
            <a:ext cx="151920" cy="151920"/>
          </a:xfrm>
          <a:prstGeom prst="rect">
            <a:avLst/>
          </a:prstGeom>
          <a:solidFill>
            <a:srgbClr val="FF3B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4"/>
          <p:cNvSpPr/>
          <p:nvPr/>
        </p:nvSpPr>
        <p:spPr>
          <a:xfrm>
            <a:off x="1504800" y="4695840"/>
            <a:ext cx="104288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Disconnect the main battery whenever the bot isn't actively being driven.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5"/>
          <p:cNvSpPr/>
          <p:nvPr/>
        </p:nvSpPr>
        <p:spPr>
          <a:xfrm>
            <a:off x="1047600" y="6172200"/>
            <a:ext cx="142873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6"/>
          <p:cNvSpPr/>
          <p:nvPr/>
        </p:nvSpPr>
        <p:spPr>
          <a:xfrm>
            <a:off x="1047600" y="5667480"/>
            <a:ext cx="151920" cy="151920"/>
          </a:xfrm>
          <a:prstGeom prst="rect">
            <a:avLst/>
          </a:prstGeom>
          <a:solidFill>
            <a:srgbClr val="FF3B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7"/>
          <p:cNvSpPr/>
          <p:nvPr/>
        </p:nvSpPr>
        <p:spPr>
          <a:xfrm>
            <a:off x="1504800" y="5562720"/>
            <a:ext cx="132346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Keep hands, tools, and loose clothing clear of the weapon any time the battery is connected.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8"/>
          <p:cNvSpPr/>
          <p:nvPr/>
        </p:nvSpPr>
        <p:spPr>
          <a:xfrm>
            <a:off x="1047600" y="7039080"/>
            <a:ext cx="142873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9"/>
          <p:cNvSpPr/>
          <p:nvPr/>
        </p:nvSpPr>
        <p:spPr>
          <a:xfrm>
            <a:off x="1047600" y="6534000"/>
            <a:ext cx="151920" cy="151920"/>
          </a:xfrm>
          <a:prstGeom prst="rect">
            <a:avLst/>
          </a:prstGeom>
          <a:solidFill>
            <a:srgbClr val="FF3B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0"/>
          <p:cNvSpPr/>
          <p:nvPr/>
        </p:nvSpPr>
        <p:spPr>
          <a:xfrm>
            <a:off x="1504800" y="6429240"/>
            <a:ext cx="949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Wear eye protection and restrain the robot during weapon testing.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1"/>
          <p:cNvSpPr/>
          <p:nvPr/>
        </p:nvSpPr>
        <p:spPr>
          <a:xfrm>
            <a:off x="1047600" y="7400880"/>
            <a:ext cx="151920" cy="151920"/>
          </a:xfrm>
          <a:prstGeom prst="rect">
            <a:avLst/>
          </a:prstGeom>
          <a:solidFill>
            <a:srgbClr val="FF3B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2"/>
          <p:cNvSpPr/>
          <p:nvPr/>
        </p:nvSpPr>
        <p:spPr>
          <a:xfrm>
            <a:off x="1504800" y="7296120"/>
            <a:ext cx="10465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Re-run the full pre-flight checklist after any rewiring or firmware change.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0"/>
          <p:cNvSpPr/>
          <p:nvPr/>
        </p:nvSpPr>
        <p:spPr>
          <a:xfrm>
            <a:off x="0" y="10153800"/>
            <a:ext cx="18287640" cy="13284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LET'S GET STARTED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2"/>
          <p:cNvSpPr/>
          <p:nvPr/>
        </p:nvSpPr>
        <p:spPr>
          <a:xfrm>
            <a:off x="1047600" y="3705840"/>
            <a:ext cx="16678080" cy="16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86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FROM PARTS LIST TO ARENA READY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3"/>
          <p:cNvSpPr/>
          <p:nvPr/>
        </p:nvSpPr>
        <p:spPr>
          <a:xfrm>
            <a:off x="1047600" y="5466600"/>
            <a:ext cx="127537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One board, one battery, and a browser — everything else is just following the steps together.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4"/>
          <p:cNvSpPr/>
          <p:nvPr/>
        </p:nvSpPr>
        <p:spPr>
          <a:xfrm>
            <a:off x="1047600" y="9315360"/>
            <a:ext cx="132840" cy="132840"/>
          </a:xfrm>
          <a:prstGeom prst="rect">
            <a:avLst/>
          </a:prstGeom>
          <a:solidFill>
            <a:srgbClr val="C8FF3D"/>
          </a:solidFill>
          <a:ln w="0">
            <a:noFill/>
          </a:ln>
          <a:effectLst>
            <a:outerShdw algn="bl" blurRad="190440" dir="16200000" dist="50760" kx="0" ky="0" rotWithShape="0" sx="100000" sy="100000">
              <a:srgbClr val="C8FF3D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5"/>
          <p:cNvSpPr/>
          <p:nvPr/>
        </p:nvSpPr>
        <p:spPr>
          <a:xfrm>
            <a:off x="1333440" y="9239400"/>
            <a:ext cx="2889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See you at the build table.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26"/>
          <p:cNvSpPr/>
          <p:nvPr/>
        </p:nvSpPr>
        <p:spPr>
          <a:xfrm>
            <a:off x="18154800" y="0"/>
            <a:ext cx="132840" cy="1028664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8"/>
          <p:cNvSpPr/>
          <p:nvPr/>
        </p:nvSpPr>
        <p:spPr>
          <a:xfrm>
            <a:off x="0" y="10153800"/>
            <a:ext cx="18287640" cy="13284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9"/>
          <p:cNvSpPr/>
          <p:nvPr/>
        </p:nvSpPr>
        <p:spPr>
          <a:xfrm>
            <a:off x="1047600" y="1023840"/>
            <a:ext cx="132840" cy="132840"/>
          </a:xfrm>
          <a:prstGeom prst="rect">
            <a:avLst/>
          </a:prstGeom>
          <a:solidFill>
            <a:srgbClr val="C8FF3D"/>
          </a:solidFill>
          <a:ln w="0">
            <a:noFill/>
          </a:ln>
          <a:effectLst>
            <a:outerShdw algn="bl" blurRad="190440" dir="16200000" dist="50760" kx="0" ky="0" rotWithShape="0" sx="100000" sy="100000">
              <a:srgbClr val="C8FF3D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31"/>
          <p:cNvSpPr/>
          <p:nvPr/>
        </p:nvSpPr>
        <p:spPr>
          <a:xfrm>
            <a:off x="1333440" y="952560"/>
            <a:ext cx="26280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KICKOFF MEETING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35"/>
          <p:cNvSpPr/>
          <p:nvPr/>
        </p:nvSpPr>
        <p:spPr>
          <a:xfrm>
            <a:off x="1047600" y="3825000"/>
            <a:ext cx="16678080" cy="16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86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BUILDING OUR ANTWEIGHT COMBAT ROBOT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36"/>
          <p:cNvSpPr/>
          <p:nvPr/>
        </p:nvSpPr>
        <p:spPr>
          <a:xfrm>
            <a:off x="1047600" y="5585760"/>
            <a:ext cx="178113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One pound of pure attitude, driven from your phone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37"/>
          <p:cNvSpPr/>
          <p:nvPr/>
        </p:nvSpPr>
        <p:spPr>
          <a:xfrm>
            <a:off x="1047600" y="8639280"/>
            <a:ext cx="25401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pc="187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WEIGHT CLASS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8"/>
          <p:cNvSpPr/>
          <p:nvPr/>
        </p:nvSpPr>
        <p:spPr>
          <a:xfrm>
            <a:off x="1047600" y="8924760"/>
            <a:ext cx="25401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Antweight · 1 lb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39"/>
          <p:cNvSpPr/>
          <p:nvPr/>
        </p:nvSpPr>
        <p:spPr>
          <a:xfrm>
            <a:off x="3966840" y="8639280"/>
            <a:ext cx="27082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pc="187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CONTROL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40"/>
          <p:cNvSpPr/>
          <p:nvPr/>
        </p:nvSpPr>
        <p:spPr>
          <a:xfrm>
            <a:off x="3966840" y="8924760"/>
            <a:ext cx="27082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Wi-Fi + Browser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41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TODAY'S SESSION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42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AGENDA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30"/>
          <p:cNvSpPr/>
          <p:nvPr/>
        </p:nvSpPr>
        <p:spPr>
          <a:xfrm>
            <a:off x="1047600" y="382896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43"/>
          <p:cNvSpPr/>
          <p:nvPr/>
        </p:nvSpPr>
        <p:spPr>
          <a:xfrm>
            <a:off x="1047600" y="282888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44"/>
          <p:cNvSpPr/>
          <p:nvPr/>
        </p:nvSpPr>
        <p:spPr>
          <a:xfrm>
            <a:off x="2038320" y="3038400"/>
            <a:ext cx="51390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What is antweight combat robotics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32"/>
          <p:cNvSpPr/>
          <p:nvPr/>
        </p:nvSpPr>
        <p:spPr>
          <a:xfrm>
            <a:off x="1047600" y="511488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45"/>
          <p:cNvSpPr/>
          <p:nvPr/>
        </p:nvSpPr>
        <p:spPr>
          <a:xfrm>
            <a:off x="1047600" y="411480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46"/>
          <p:cNvSpPr/>
          <p:nvPr/>
        </p:nvSpPr>
        <p:spPr>
          <a:xfrm>
            <a:off x="2038320" y="4324320"/>
            <a:ext cx="38617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Meet our robot, AntBot-S3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33"/>
          <p:cNvSpPr/>
          <p:nvPr/>
        </p:nvSpPr>
        <p:spPr>
          <a:xfrm>
            <a:off x="1047600" y="640080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47"/>
          <p:cNvSpPr/>
          <p:nvPr/>
        </p:nvSpPr>
        <p:spPr>
          <a:xfrm>
            <a:off x="1047600" y="540072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48"/>
          <p:cNvSpPr/>
          <p:nvPr/>
        </p:nvSpPr>
        <p:spPr>
          <a:xfrm>
            <a:off x="2038320" y="5610240"/>
            <a:ext cx="3710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What we'll need to build it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34"/>
          <p:cNvSpPr/>
          <p:nvPr/>
        </p:nvSpPr>
        <p:spPr>
          <a:xfrm>
            <a:off x="9296280" y="382896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49"/>
          <p:cNvSpPr/>
          <p:nvPr/>
        </p:nvSpPr>
        <p:spPr>
          <a:xfrm>
            <a:off x="9296280" y="282888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50"/>
          <p:cNvSpPr/>
          <p:nvPr/>
        </p:nvSpPr>
        <p:spPr>
          <a:xfrm>
            <a:off x="10287000" y="3038400"/>
            <a:ext cx="43588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How we'll build it, step by step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35"/>
          <p:cNvSpPr/>
          <p:nvPr/>
        </p:nvSpPr>
        <p:spPr>
          <a:xfrm>
            <a:off x="9296280" y="511488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51"/>
          <p:cNvSpPr/>
          <p:nvPr/>
        </p:nvSpPr>
        <p:spPr>
          <a:xfrm>
            <a:off x="9296280" y="411480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52"/>
          <p:cNvSpPr/>
          <p:nvPr/>
        </p:nvSpPr>
        <p:spPr>
          <a:xfrm>
            <a:off x="10287000" y="4324320"/>
            <a:ext cx="3660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Driving and safety basics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36"/>
          <p:cNvSpPr/>
          <p:nvPr/>
        </p:nvSpPr>
        <p:spPr>
          <a:xfrm>
            <a:off x="9296280" y="6400800"/>
            <a:ext cx="7943400" cy="1872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53"/>
          <p:cNvSpPr/>
          <p:nvPr/>
        </p:nvSpPr>
        <p:spPr>
          <a:xfrm>
            <a:off x="9296280" y="5400720"/>
            <a:ext cx="83772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43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4"/>
          <p:cNvSpPr/>
          <p:nvPr/>
        </p:nvSpPr>
        <p:spPr>
          <a:xfrm>
            <a:off x="10287000" y="5610240"/>
            <a:ext cx="3589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Getting started together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 55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THE SPORT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6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WHAT IS ANTWEIGHT COMBAT ROBOTICS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57"/>
          <p:cNvSpPr/>
          <p:nvPr/>
        </p:nvSpPr>
        <p:spPr>
          <a:xfrm>
            <a:off x="1047600" y="4705200"/>
            <a:ext cx="8427600" cy="14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33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Two remote-controlled robots, one arena, three minutes. Builders design and drive machines armed with spinners, wedges, and hammers — and the last one still moving wins.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58"/>
          <p:cNvSpPr/>
          <p:nvPr/>
        </p:nvSpPr>
        <p:spPr>
          <a:xfrm>
            <a:off x="1047600" y="6381720"/>
            <a:ext cx="235260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pc="54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1 lb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59"/>
          <p:cNvSpPr/>
          <p:nvPr/>
        </p:nvSpPr>
        <p:spPr>
          <a:xfrm>
            <a:off x="1047600" y="7362720"/>
            <a:ext cx="23526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Antweight class limit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60"/>
          <p:cNvSpPr/>
          <p:nvPr/>
        </p:nvSpPr>
        <p:spPr>
          <a:xfrm>
            <a:off x="3643920" y="6381720"/>
            <a:ext cx="234360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pc="54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3 min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61"/>
          <p:cNvSpPr/>
          <p:nvPr/>
        </p:nvSpPr>
        <p:spPr>
          <a:xfrm>
            <a:off x="3643920" y="7362720"/>
            <a:ext cx="23436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Typical match length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37"/>
          <p:cNvSpPr/>
          <p:nvPr/>
        </p:nvSpPr>
        <p:spPr>
          <a:xfrm>
            <a:off x="9801720" y="2828880"/>
            <a:ext cx="7438320" cy="6695640"/>
          </a:xfrm>
          <a:prstGeom prst="rect">
            <a:avLst/>
          </a:prstGeom>
          <a:solidFill>
            <a:srgbClr val="2A2E33"/>
          </a:solidFill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62"/>
          <p:cNvSpPr/>
          <p:nvPr/>
        </p:nvSpPr>
        <p:spPr>
          <a:xfrm>
            <a:off x="10090800" y="5853240"/>
            <a:ext cx="6860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565C64"/>
                </a:solidFill>
                <a:effectLst/>
                <a:uFillTx/>
                <a:latin typeface="Courier New"/>
                <a:ea typeface="Courier New"/>
              </a:rPr>
              <a:t>PHOTO: antweight bots battling in a combat arena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ext 63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THE SPORT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64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HOW A MATCH IS WON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38"/>
          <p:cNvSpPr/>
          <p:nvPr/>
        </p:nvSpPr>
        <p:spPr>
          <a:xfrm>
            <a:off x="1047600" y="2828880"/>
            <a:ext cx="5168520" cy="258552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39"/>
          <p:cNvSpPr/>
          <p:nvPr/>
        </p:nvSpPr>
        <p:spPr>
          <a:xfrm>
            <a:off x="1047600" y="2828880"/>
            <a:ext cx="5168520" cy="5688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65"/>
          <p:cNvSpPr/>
          <p:nvPr/>
        </p:nvSpPr>
        <p:spPr>
          <a:xfrm>
            <a:off x="1428840" y="3267000"/>
            <a:ext cx="484740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31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Knockout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66"/>
          <p:cNvSpPr/>
          <p:nvPr/>
        </p:nvSpPr>
        <p:spPr>
          <a:xfrm>
            <a:off x="1428840" y="3962520"/>
            <a:ext cx="453888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9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75000"/>
                  </a:srgbClr>
                </a:solidFill>
                <a:effectLst/>
                <a:uFillTx/>
                <a:latin typeface="Arial"/>
                <a:ea typeface="Arial"/>
              </a:rPr>
              <a:t>Immobilize the other bot completely and the match ends early — the clearest win in the sport.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40"/>
          <p:cNvSpPr/>
          <p:nvPr/>
        </p:nvSpPr>
        <p:spPr>
          <a:xfrm>
            <a:off x="6559560" y="2828880"/>
            <a:ext cx="5168520" cy="258552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41"/>
          <p:cNvSpPr/>
          <p:nvPr/>
        </p:nvSpPr>
        <p:spPr>
          <a:xfrm>
            <a:off x="6559560" y="2828880"/>
            <a:ext cx="5168520" cy="56880"/>
          </a:xfrm>
          <a:prstGeom prst="rect">
            <a:avLst/>
          </a:prstGeom>
          <a:solidFill>
            <a:srgbClr val="C8FF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7"/>
          <p:cNvSpPr/>
          <p:nvPr/>
        </p:nvSpPr>
        <p:spPr>
          <a:xfrm>
            <a:off x="6940440" y="3267000"/>
            <a:ext cx="484740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31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Judges' Decision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68"/>
          <p:cNvSpPr/>
          <p:nvPr/>
        </p:nvSpPr>
        <p:spPr>
          <a:xfrm>
            <a:off x="6940440" y="3962520"/>
            <a:ext cx="453888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9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75000"/>
                  </a:srgbClr>
                </a:solidFill>
                <a:effectLst/>
                <a:uFillTx/>
                <a:latin typeface="Arial"/>
                <a:ea typeface="Arial"/>
              </a:rPr>
              <a:t>If time runs out, judges score on damage dealt, control, and aggression to pick a winner.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42"/>
          <p:cNvSpPr/>
          <p:nvPr/>
        </p:nvSpPr>
        <p:spPr>
          <a:xfrm>
            <a:off x="12071520" y="2828880"/>
            <a:ext cx="5168520" cy="258552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43"/>
          <p:cNvSpPr/>
          <p:nvPr/>
        </p:nvSpPr>
        <p:spPr>
          <a:xfrm>
            <a:off x="12071520" y="2828880"/>
            <a:ext cx="5168520" cy="56880"/>
          </a:xfrm>
          <a:prstGeom prst="rect">
            <a:avLst/>
          </a:prstGeom>
          <a:solidFill>
            <a:srgbClr val="ECEA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69"/>
          <p:cNvSpPr/>
          <p:nvPr/>
        </p:nvSpPr>
        <p:spPr>
          <a:xfrm>
            <a:off x="12452400" y="3267000"/>
            <a:ext cx="484740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31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Weapon Styles Vary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70"/>
          <p:cNvSpPr/>
          <p:nvPr/>
        </p:nvSpPr>
        <p:spPr>
          <a:xfrm>
            <a:off x="12452400" y="3962520"/>
            <a:ext cx="453888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9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75000"/>
                  </a:srgbClr>
                </a:solidFill>
                <a:effectLst/>
                <a:uFillTx/>
                <a:latin typeface="Arial"/>
                <a:ea typeface="Arial"/>
              </a:rPr>
              <a:t>Spinners, flippers, wedges, and hammers are all common — our build uses a spinning weapon.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71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OUR ROBOT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72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MEET ANTBOT-S3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73"/>
          <p:cNvSpPr/>
          <p:nvPr/>
        </p:nvSpPr>
        <p:spPr>
          <a:xfrm>
            <a:off x="1047600" y="2600280"/>
            <a:ext cx="5508360" cy="153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CEAE4">
                    <a:alpha val="80000"/>
                  </a:srgbClr>
                </a:solidFill>
                <a:effectLst/>
                <a:uFillTx/>
                <a:latin typeface="Arial"/>
                <a:ea typeface="Arial"/>
              </a:rPr>
              <a:t>A microcontroller board is the entire brain — it makes its own Wi-Fi network, so a phone or laptop can drive it straight from a browser. No transmitter, no receiver, no radio gear.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44"/>
          <p:cNvSpPr/>
          <p:nvPr/>
        </p:nvSpPr>
        <p:spPr>
          <a:xfrm>
            <a:off x="1047600" y="4265280"/>
            <a:ext cx="5347800" cy="1314000"/>
          </a:xfrm>
          <a:prstGeom prst="rect">
            <a:avLst/>
          </a:prstGeom>
          <a:solidFill>
            <a:srgbClr val="1D2024"/>
          </a:solidFill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74"/>
          <p:cNvSpPr/>
          <p:nvPr/>
        </p:nvSpPr>
        <p:spPr>
          <a:xfrm>
            <a:off x="1333440" y="4784400"/>
            <a:ext cx="1361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45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BRAIN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75"/>
          <p:cNvSpPr/>
          <p:nvPr/>
        </p:nvSpPr>
        <p:spPr>
          <a:xfrm>
            <a:off x="2800440" y="4436640"/>
            <a:ext cx="36406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pc="2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ESP32-S3 DevKit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76"/>
          <p:cNvSpPr/>
          <p:nvPr/>
        </p:nvSpPr>
        <p:spPr>
          <a:xfrm>
            <a:off x="2800440" y="4836960"/>
            <a:ext cx="34088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7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Hosts Wi-Fi, turns joystick input into motor commands.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45"/>
          <p:cNvSpPr/>
          <p:nvPr/>
        </p:nvSpPr>
        <p:spPr>
          <a:xfrm>
            <a:off x="1047600" y="5713200"/>
            <a:ext cx="5347800" cy="1314000"/>
          </a:xfrm>
          <a:prstGeom prst="rect">
            <a:avLst/>
          </a:prstGeom>
          <a:solidFill>
            <a:srgbClr val="1D2024"/>
          </a:solidFill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77"/>
          <p:cNvSpPr/>
          <p:nvPr/>
        </p:nvSpPr>
        <p:spPr>
          <a:xfrm>
            <a:off x="1333440" y="6232320"/>
            <a:ext cx="1361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45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DRIVE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78"/>
          <p:cNvSpPr/>
          <p:nvPr/>
        </p:nvSpPr>
        <p:spPr>
          <a:xfrm>
            <a:off x="2800440" y="5884560"/>
            <a:ext cx="36406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pc="2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DRV8833 + 2× N20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79"/>
          <p:cNvSpPr/>
          <p:nvPr/>
        </p:nvSpPr>
        <p:spPr>
          <a:xfrm>
            <a:off x="2800440" y="6284520"/>
            <a:ext cx="34088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7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Tank steering, two gear motors, brakes to a stop.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46"/>
          <p:cNvSpPr/>
          <p:nvPr/>
        </p:nvSpPr>
        <p:spPr>
          <a:xfrm>
            <a:off x="1047600" y="7160760"/>
            <a:ext cx="5347800" cy="1028520"/>
          </a:xfrm>
          <a:prstGeom prst="rect">
            <a:avLst/>
          </a:prstGeom>
          <a:solidFill>
            <a:srgbClr val="1D2024"/>
          </a:solidFill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80"/>
          <p:cNvSpPr/>
          <p:nvPr/>
        </p:nvSpPr>
        <p:spPr>
          <a:xfrm>
            <a:off x="1333440" y="7536960"/>
            <a:ext cx="1361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45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WEAPON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81"/>
          <p:cNvSpPr/>
          <p:nvPr/>
        </p:nvSpPr>
        <p:spPr>
          <a:xfrm>
            <a:off x="2800440" y="7332480"/>
            <a:ext cx="26834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pc="2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Brushless ESC + Motor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82"/>
          <p:cNvSpPr/>
          <p:nvPr/>
        </p:nvSpPr>
        <p:spPr>
          <a:xfrm>
            <a:off x="2800440" y="7732440"/>
            <a:ext cx="26834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7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Throttle only, no reverse.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3" name=""/>
          <p:cNvPicPr/>
          <p:nvPr/>
        </p:nvPicPr>
        <p:blipFill>
          <a:blip r:embed="rId1"/>
          <a:srcRect l="0" t="0" r="28013" b="0"/>
          <a:stretch/>
        </p:blipFill>
        <p:spPr>
          <a:xfrm>
            <a:off x="9601200" y="3405600"/>
            <a:ext cx="7543800" cy="505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Text 83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OUR ROBOT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84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DRIVEN BY WI-FI, NOT RADIO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85"/>
          <p:cNvSpPr/>
          <p:nvPr/>
        </p:nvSpPr>
        <p:spPr>
          <a:xfrm>
            <a:off x="1047600" y="4794840"/>
            <a:ext cx="60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86"/>
          <p:cNvSpPr/>
          <p:nvPr/>
        </p:nvSpPr>
        <p:spPr>
          <a:xfrm>
            <a:off x="1771560" y="4794840"/>
            <a:ext cx="774720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4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The robot creates its own Wi-Fi network on power-up.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87"/>
          <p:cNvSpPr/>
          <p:nvPr/>
        </p:nvSpPr>
        <p:spPr>
          <a:xfrm>
            <a:off x="1047600" y="5623560"/>
            <a:ext cx="553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88"/>
          <p:cNvSpPr/>
          <p:nvPr/>
        </p:nvSpPr>
        <p:spPr>
          <a:xfrm>
            <a:off x="1716120" y="5623560"/>
            <a:ext cx="735588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4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Your phone or laptop joins that network and opens a browser.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89"/>
          <p:cNvSpPr/>
          <p:nvPr/>
        </p:nvSpPr>
        <p:spPr>
          <a:xfrm>
            <a:off x="1047600" y="6705720"/>
            <a:ext cx="4986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90"/>
          <p:cNvSpPr/>
          <p:nvPr/>
        </p:nvSpPr>
        <p:spPr>
          <a:xfrm>
            <a:off x="1661040" y="6705720"/>
            <a:ext cx="741276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4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A joystick and weapon slider load right on the page — no app to install.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48"/>
          <p:cNvSpPr/>
          <p:nvPr/>
        </p:nvSpPr>
        <p:spPr>
          <a:xfrm>
            <a:off x="9429840" y="2828880"/>
            <a:ext cx="7810200" cy="6695640"/>
          </a:xfrm>
          <a:prstGeom prst="rect">
            <a:avLst/>
          </a:prstGeom>
          <a:solidFill>
            <a:srgbClr val="15171A"/>
          </a:solidFill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49"/>
          <p:cNvSpPr/>
          <p:nvPr/>
        </p:nvSpPr>
        <p:spPr>
          <a:xfrm>
            <a:off x="12287160" y="4853160"/>
            <a:ext cx="2095200" cy="2095200"/>
          </a:xfrm>
          <a:prstGeom prst="ellipse">
            <a:avLst/>
          </a:prstGeom>
          <a:noFill/>
          <a:ln w="3810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50"/>
          <p:cNvSpPr/>
          <p:nvPr/>
        </p:nvSpPr>
        <p:spPr>
          <a:xfrm>
            <a:off x="12906360" y="5472000"/>
            <a:ext cx="856800" cy="856800"/>
          </a:xfrm>
          <a:prstGeom prst="ellipse">
            <a:avLst/>
          </a:prstGeom>
          <a:solidFill>
            <a:srgbClr val="C8FF3D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91"/>
          <p:cNvSpPr/>
          <p:nvPr/>
        </p:nvSpPr>
        <p:spPr>
          <a:xfrm>
            <a:off x="10977480" y="7176960"/>
            <a:ext cx="518616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565C64"/>
                </a:solidFill>
                <a:effectLst/>
                <a:uFillTx/>
                <a:latin typeface="Courier New"/>
                <a:ea typeface="Courier New"/>
              </a:rPr>
              <a:t>on-screen joystick, phone browser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ext 92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THE BUILD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93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WHAT WE'LL NEED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51"/>
          <p:cNvSpPr/>
          <p:nvPr/>
        </p:nvSpPr>
        <p:spPr>
          <a:xfrm>
            <a:off x="1047600" y="2828880"/>
            <a:ext cx="16192080" cy="6695640"/>
          </a:xfrm>
          <a:prstGeom prst="rect">
            <a:avLst/>
          </a:prstGeom>
          <a:noFill/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52"/>
          <p:cNvSpPr/>
          <p:nvPr/>
        </p:nvSpPr>
        <p:spPr>
          <a:xfrm>
            <a:off x="1066680" y="2847960"/>
            <a:ext cx="16153920" cy="704520"/>
          </a:xfrm>
          <a:prstGeom prst="rect">
            <a:avLst/>
          </a:prstGeom>
          <a:solidFill>
            <a:srgbClr val="2A2E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94"/>
          <p:cNvSpPr/>
          <p:nvPr/>
        </p:nvSpPr>
        <p:spPr>
          <a:xfrm>
            <a:off x="1409760" y="305748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pc="150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PART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95"/>
          <p:cNvSpPr/>
          <p:nvPr/>
        </p:nvSpPr>
        <p:spPr>
          <a:xfrm>
            <a:off x="7359120" y="305748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pc="150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SPEC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96"/>
          <p:cNvSpPr/>
          <p:nvPr/>
        </p:nvSpPr>
        <p:spPr>
          <a:xfrm>
            <a:off x="14498640" y="305748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pc="150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QTY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53"/>
          <p:cNvSpPr/>
          <p:nvPr/>
        </p:nvSpPr>
        <p:spPr>
          <a:xfrm>
            <a:off x="1066680" y="355284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97"/>
          <p:cNvSpPr/>
          <p:nvPr/>
        </p:nvSpPr>
        <p:spPr>
          <a:xfrm>
            <a:off x="1409760" y="375300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2S LiPo Battery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98"/>
          <p:cNvSpPr/>
          <p:nvPr/>
        </p:nvSpPr>
        <p:spPr>
          <a:xfrm>
            <a:off x="7359120" y="375300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7.4V nominal, high discharge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99"/>
          <p:cNvSpPr/>
          <p:nvPr/>
        </p:nvSpPr>
        <p:spPr>
          <a:xfrm>
            <a:off x="14498640" y="375300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54"/>
          <p:cNvSpPr/>
          <p:nvPr/>
        </p:nvSpPr>
        <p:spPr>
          <a:xfrm>
            <a:off x="1066680" y="422928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00"/>
          <p:cNvSpPr/>
          <p:nvPr/>
        </p:nvSpPr>
        <p:spPr>
          <a:xfrm>
            <a:off x="1409760" y="442908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ESP32-S3 DevKit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01"/>
          <p:cNvSpPr/>
          <p:nvPr/>
        </p:nvSpPr>
        <p:spPr>
          <a:xfrm>
            <a:off x="7359120" y="442908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Board with onboard RGB status LED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02"/>
          <p:cNvSpPr/>
          <p:nvPr/>
        </p:nvSpPr>
        <p:spPr>
          <a:xfrm>
            <a:off x="14498640" y="442908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55"/>
          <p:cNvSpPr/>
          <p:nvPr/>
        </p:nvSpPr>
        <p:spPr>
          <a:xfrm>
            <a:off x="1066680" y="490536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03"/>
          <p:cNvSpPr/>
          <p:nvPr/>
        </p:nvSpPr>
        <p:spPr>
          <a:xfrm>
            <a:off x="1409760" y="510552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DRV8833 Motor Driver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04"/>
          <p:cNvSpPr/>
          <p:nvPr/>
        </p:nvSpPr>
        <p:spPr>
          <a:xfrm>
            <a:off x="7359120" y="510552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2-channel H-bridge breakout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05"/>
          <p:cNvSpPr/>
          <p:nvPr/>
        </p:nvSpPr>
        <p:spPr>
          <a:xfrm>
            <a:off x="14498640" y="510552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56"/>
          <p:cNvSpPr/>
          <p:nvPr/>
        </p:nvSpPr>
        <p:spPr>
          <a:xfrm>
            <a:off x="1066680" y="558180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06"/>
          <p:cNvSpPr/>
          <p:nvPr/>
        </p:nvSpPr>
        <p:spPr>
          <a:xfrm>
            <a:off x="1409760" y="578160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N20 Gear Motors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07"/>
          <p:cNvSpPr/>
          <p:nvPr/>
        </p:nvSpPr>
        <p:spPr>
          <a:xfrm>
            <a:off x="7359120" y="578160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~500 RPM class @ 6V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08"/>
          <p:cNvSpPr/>
          <p:nvPr/>
        </p:nvSpPr>
        <p:spPr>
          <a:xfrm>
            <a:off x="14498640" y="578160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57"/>
          <p:cNvSpPr/>
          <p:nvPr/>
        </p:nvSpPr>
        <p:spPr>
          <a:xfrm>
            <a:off x="1066680" y="625788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09"/>
          <p:cNvSpPr/>
          <p:nvPr/>
        </p:nvSpPr>
        <p:spPr>
          <a:xfrm>
            <a:off x="1409760" y="645804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Brushless Weapon ESC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10"/>
          <p:cNvSpPr/>
          <p:nvPr/>
        </p:nvSpPr>
        <p:spPr>
          <a:xfrm>
            <a:off x="7359120" y="645804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Slim profile, 15A, 2S, throttle-only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11"/>
          <p:cNvSpPr/>
          <p:nvPr/>
        </p:nvSpPr>
        <p:spPr>
          <a:xfrm>
            <a:off x="14498640" y="645804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58"/>
          <p:cNvSpPr/>
          <p:nvPr/>
        </p:nvSpPr>
        <p:spPr>
          <a:xfrm>
            <a:off x="1066680" y="693432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12"/>
          <p:cNvSpPr/>
          <p:nvPr/>
        </p:nvSpPr>
        <p:spPr>
          <a:xfrm>
            <a:off x="1409760" y="713412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Weapon Motor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13"/>
          <p:cNvSpPr/>
          <p:nvPr/>
        </p:nvSpPr>
        <p:spPr>
          <a:xfrm>
            <a:off x="7359120" y="713412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Brushless, sized to the ESC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14"/>
          <p:cNvSpPr/>
          <p:nvPr/>
        </p:nvSpPr>
        <p:spPr>
          <a:xfrm>
            <a:off x="14498640" y="713412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59"/>
          <p:cNvSpPr/>
          <p:nvPr/>
        </p:nvSpPr>
        <p:spPr>
          <a:xfrm>
            <a:off x="1066680" y="7610400"/>
            <a:ext cx="161539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15"/>
          <p:cNvSpPr/>
          <p:nvPr/>
        </p:nvSpPr>
        <p:spPr>
          <a:xfrm>
            <a:off x="1409760" y="7810560"/>
            <a:ext cx="6544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Connectors &amp; Wire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16"/>
          <p:cNvSpPr/>
          <p:nvPr/>
        </p:nvSpPr>
        <p:spPr>
          <a:xfrm>
            <a:off x="7359120" y="7810560"/>
            <a:ext cx="7853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JST-XH, XT30, silicone wire, heat-shrink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17"/>
          <p:cNvSpPr/>
          <p:nvPr/>
        </p:nvSpPr>
        <p:spPr>
          <a:xfrm>
            <a:off x="14498640" y="7810560"/>
            <a:ext cx="2617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—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ext 118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THE BUILD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19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HOW WE'LL BUILD IT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60"/>
          <p:cNvSpPr/>
          <p:nvPr/>
        </p:nvSpPr>
        <p:spPr>
          <a:xfrm>
            <a:off x="1047600" y="2828880"/>
            <a:ext cx="305532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61"/>
          <p:cNvSpPr/>
          <p:nvPr/>
        </p:nvSpPr>
        <p:spPr>
          <a:xfrm>
            <a:off x="1047600" y="2828880"/>
            <a:ext cx="3055320" cy="3780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20"/>
          <p:cNvSpPr/>
          <p:nvPr/>
        </p:nvSpPr>
        <p:spPr>
          <a:xfrm>
            <a:off x="1295280" y="3171960"/>
            <a:ext cx="28159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pc="40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21"/>
          <p:cNvSpPr/>
          <p:nvPr/>
        </p:nvSpPr>
        <p:spPr>
          <a:xfrm>
            <a:off x="1295280" y="4038480"/>
            <a:ext cx="2815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Set Up Software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122"/>
          <p:cNvSpPr/>
          <p:nvPr/>
        </p:nvSpPr>
        <p:spPr>
          <a:xfrm>
            <a:off x="1295280" y="4600440"/>
            <a:ext cx="26366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Install the Arduino IDE and get the robot's code onto your computer.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62"/>
          <p:cNvSpPr/>
          <p:nvPr/>
        </p:nvSpPr>
        <p:spPr>
          <a:xfrm>
            <a:off x="4331880" y="2828880"/>
            <a:ext cx="305532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63"/>
          <p:cNvSpPr/>
          <p:nvPr/>
        </p:nvSpPr>
        <p:spPr>
          <a:xfrm>
            <a:off x="4331880" y="2828880"/>
            <a:ext cx="3055320" cy="3780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23"/>
          <p:cNvSpPr/>
          <p:nvPr/>
        </p:nvSpPr>
        <p:spPr>
          <a:xfrm>
            <a:off x="4579560" y="3171960"/>
            <a:ext cx="28159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pc="40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24"/>
          <p:cNvSpPr/>
          <p:nvPr/>
        </p:nvSpPr>
        <p:spPr>
          <a:xfrm>
            <a:off x="4579560" y="4038480"/>
            <a:ext cx="2815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Plan The Layout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25"/>
          <p:cNvSpPr/>
          <p:nvPr/>
        </p:nvSpPr>
        <p:spPr>
          <a:xfrm>
            <a:off x="4579560" y="4600440"/>
            <a:ext cx="26366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Dry-fit battery, driver, brain, and ESC before cutting wire.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64"/>
          <p:cNvSpPr/>
          <p:nvPr/>
        </p:nvSpPr>
        <p:spPr>
          <a:xfrm>
            <a:off x="7616160" y="2828880"/>
            <a:ext cx="305532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65"/>
          <p:cNvSpPr/>
          <p:nvPr/>
        </p:nvSpPr>
        <p:spPr>
          <a:xfrm>
            <a:off x="7616160" y="2828880"/>
            <a:ext cx="3055320" cy="3780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26"/>
          <p:cNvSpPr/>
          <p:nvPr/>
        </p:nvSpPr>
        <p:spPr>
          <a:xfrm>
            <a:off x="7863840" y="3171960"/>
            <a:ext cx="28159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pc="40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27"/>
          <p:cNvSpPr/>
          <p:nvPr/>
        </p:nvSpPr>
        <p:spPr>
          <a:xfrm>
            <a:off x="7863840" y="4038480"/>
            <a:ext cx="2815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Wire The Harness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28"/>
          <p:cNvSpPr/>
          <p:nvPr/>
        </p:nvSpPr>
        <p:spPr>
          <a:xfrm>
            <a:off x="7863840" y="4600440"/>
            <a:ext cx="26366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Build power, signal, and motor connections per the pinout.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66"/>
          <p:cNvSpPr/>
          <p:nvPr/>
        </p:nvSpPr>
        <p:spPr>
          <a:xfrm>
            <a:off x="10900440" y="2828880"/>
            <a:ext cx="305532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67"/>
          <p:cNvSpPr/>
          <p:nvPr/>
        </p:nvSpPr>
        <p:spPr>
          <a:xfrm>
            <a:off x="10900440" y="2828880"/>
            <a:ext cx="3055320" cy="3780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29"/>
          <p:cNvSpPr/>
          <p:nvPr/>
        </p:nvSpPr>
        <p:spPr>
          <a:xfrm>
            <a:off x="11148120" y="3171960"/>
            <a:ext cx="28159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pc="40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30"/>
          <p:cNvSpPr/>
          <p:nvPr/>
        </p:nvSpPr>
        <p:spPr>
          <a:xfrm>
            <a:off x="11148120" y="4038480"/>
            <a:ext cx="2815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Flash Firmware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31"/>
          <p:cNvSpPr/>
          <p:nvPr/>
        </p:nvSpPr>
        <p:spPr>
          <a:xfrm>
            <a:off x="11148120" y="4600440"/>
            <a:ext cx="26366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Set the pin numbers and Wi-Fi name, then upload it.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68"/>
          <p:cNvSpPr/>
          <p:nvPr/>
        </p:nvSpPr>
        <p:spPr>
          <a:xfrm>
            <a:off x="14184720" y="2828880"/>
            <a:ext cx="305532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69"/>
          <p:cNvSpPr/>
          <p:nvPr/>
        </p:nvSpPr>
        <p:spPr>
          <a:xfrm>
            <a:off x="14184720" y="2828880"/>
            <a:ext cx="3055320" cy="3780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32"/>
          <p:cNvSpPr/>
          <p:nvPr/>
        </p:nvSpPr>
        <p:spPr>
          <a:xfrm>
            <a:off x="14432400" y="3171960"/>
            <a:ext cx="28159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pc="40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33"/>
          <p:cNvSpPr/>
          <p:nvPr/>
        </p:nvSpPr>
        <p:spPr>
          <a:xfrm>
            <a:off x="14432400" y="4038480"/>
            <a:ext cx="2815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Test &amp; Drive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34"/>
          <p:cNvSpPr/>
          <p:nvPr/>
        </p:nvSpPr>
        <p:spPr>
          <a:xfrm>
            <a:off x="14432400" y="4600440"/>
            <a:ext cx="26366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Run the checklist, then drive it lifted off the ground.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Text 135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THE BUILD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36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WIRING IT UP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37"/>
          <p:cNvSpPr/>
          <p:nvPr/>
        </p:nvSpPr>
        <p:spPr>
          <a:xfrm>
            <a:off x="1047600" y="2828880"/>
            <a:ext cx="80445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33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Every signal on the board comes straight from its own GPIO pins — five wires tell the robot how to move and fire.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70"/>
          <p:cNvSpPr/>
          <p:nvPr/>
        </p:nvSpPr>
        <p:spPr>
          <a:xfrm>
            <a:off x="1047600" y="4048200"/>
            <a:ext cx="7810200" cy="2428560"/>
          </a:xfrm>
          <a:prstGeom prst="rect">
            <a:avLst/>
          </a:prstGeom>
          <a:noFill/>
          <a:ln w="19050">
            <a:solidFill>
              <a:srgbClr val="3A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71"/>
          <p:cNvSpPr/>
          <p:nvPr/>
        </p:nvSpPr>
        <p:spPr>
          <a:xfrm>
            <a:off x="1066680" y="4067280"/>
            <a:ext cx="7772040" cy="618840"/>
          </a:xfrm>
          <a:prstGeom prst="rect">
            <a:avLst/>
          </a:prstGeom>
          <a:solidFill>
            <a:srgbClr val="2A2E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38"/>
          <p:cNvSpPr/>
          <p:nvPr/>
        </p:nvSpPr>
        <p:spPr>
          <a:xfrm>
            <a:off x="1333440" y="4238640"/>
            <a:ext cx="26539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08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SIGNAL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39"/>
          <p:cNvSpPr/>
          <p:nvPr/>
        </p:nvSpPr>
        <p:spPr>
          <a:xfrm>
            <a:off x="3746520" y="4238640"/>
            <a:ext cx="18954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08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GPIO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40"/>
          <p:cNvSpPr/>
          <p:nvPr/>
        </p:nvSpPr>
        <p:spPr>
          <a:xfrm>
            <a:off x="5470200" y="4238640"/>
            <a:ext cx="34124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08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GOES TO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72"/>
          <p:cNvSpPr/>
          <p:nvPr/>
        </p:nvSpPr>
        <p:spPr>
          <a:xfrm>
            <a:off x="1066680" y="4686480"/>
            <a:ext cx="777204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41"/>
          <p:cNvSpPr/>
          <p:nvPr/>
        </p:nvSpPr>
        <p:spPr>
          <a:xfrm>
            <a:off x="1333440" y="4848120"/>
            <a:ext cx="26539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WEAPON_PIN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42"/>
          <p:cNvSpPr/>
          <p:nvPr/>
        </p:nvSpPr>
        <p:spPr>
          <a:xfrm>
            <a:off x="3746520" y="4848120"/>
            <a:ext cx="18954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43"/>
          <p:cNvSpPr/>
          <p:nvPr/>
        </p:nvSpPr>
        <p:spPr>
          <a:xfrm>
            <a:off x="5470200" y="4848120"/>
            <a:ext cx="34124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Weapon ESC signal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73"/>
          <p:cNvSpPr/>
          <p:nvPr/>
        </p:nvSpPr>
        <p:spPr>
          <a:xfrm>
            <a:off x="1066680" y="5276880"/>
            <a:ext cx="777204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44"/>
          <p:cNvSpPr/>
          <p:nvPr/>
        </p:nvSpPr>
        <p:spPr>
          <a:xfrm>
            <a:off x="1333440" y="5438880"/>
            <a:ext cx="26539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L_IN1 / L_IN2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45"/>
          <p:cNvSpPr/>
          <p:nvPr/>
        </p:nvSpPr>
        <p:spPr>
          <a:xfrm>
            <a:off x="3746520" y="5438880"/>
            <a:ext cx="18954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7 / 8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46"/>
          <p:cNvSpPr/>
          <p:nvPr/>
        </p:nvSpPr>
        <p:spPr>
          <a:xfrm>
            <a:off x="5470200" y="5438880"/>
            <a:ext cx="34124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Left motor driver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74"/>
          <p:cNvSpPr/>
          <p:nvPr/>
        </p:nvSpPr>
        <p:spPr>
          <a:xfrm>
            <a:off x="1066680" y="5867280"/>
            <a:ext cx="777204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47"/>
          <p:cNvSpPr/>
          <p:nvPr/>
        </p:nvSpPr>
        <p:spPr>
          <a:xfrm>
            <a:off x="1333440" y="6029280"/>
            <a:ext cx="26539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R_IN2 / R_IN1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48"/>
          <p:cNvSpPr/>
          <p:nvPr/>
        </p:nvSpPr>
        <p:spPr>
          <a:xfrm>
            <a:off x="3746520" y="6029280"/>
            <a:ext cx="18954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9 / 10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49"/>
          <p:cNvSpPr/>
          <p:nvPr/>
        </p:nvSpPr>
        <p:spPr>
          <a:xfrm>
            <a:off x="5470200" y="6029280"/>
            <a:ext cx="34124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Right motor driver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75"/>
          <p:cNvSpPr/>
          <p:nvPr/>
        </p:nvSpPr>
        <p:spPr>
          <a:xfrm>
            <a:off x="9429840" y="4414680"/>
            <a:ext cx="7810200" cy="16664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76"/>
          <p:cNvSpPr/>
          <p:nvPr/>
        </p:nvSpPr>
        <p:spPr>
          <a:xfrm>
            <a:off x="9429840" y="4414680"/>
            <a:ext cx="56880" cy="1666440"/>
          </a:xfrm>
          <a:prstGeom prst="rect">
            <a:avLst/>
          </a:prstGeom>
          <a:solidFill>
            <a:srgbClr val="C8FF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50"/>
          <p:cNvSpPr/>
          <p:nvPr/>
        </p:nvSpPr>
        <p:spPr>
          <a:xfrm>
            <a:off x="9791640" y="4719600"/>
            <a:ext cx="78577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45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KEEP IT SIMPLE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1"/>
          <p:cNvSpPr/>
          <p:nvPr/>
        </p:nvSpPr>
        <p:spPr>
          <a:xfrm>
            <a:off x="9791640" y="5091120"/>
            <a:ext cx="735768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70000"/>
                  </a:srgbClr>
                </a:solidFill>
                <a:effectLst/>
                <a:uFillTx/>
                <a:latin typeface="Arial"/>
                <a:ea typeface="Arial"/>
              </a:rPr>
              <a:t>One shared power bus, short direct signal runs, and keyed connectors — nothing can plug in backward.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77"/>
          <p:cNvSpPr/>
          <p:nvPr/>
        </p:nvSpPr>
        <p:spPr>
          <a:xfrm>
            <a:off x="9429840" y="6272280"/>
            <a:ext cx="7810200" cy="16664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78"/>
          <p:cNvSpPr/>
          <p:nvPr/>
        </p:nvSpPr>
        <p:spPr>
          <a:xfrm>
            <a:off x="9429840" y="6272280"/>
            <a:ext cx="56880" cy="166644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52"/>
          <p:cNvSpPr/>
          <p:nvPr/>
        </p:nvSpPr>
        <p:spPr>
          <a:xfrm>
            <a:off x="9791640" y="6576840"/>
            <a:ext cx="78577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145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ONLY TWO PLUGS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53"/>
          <p:cNvSpPr/>
          <p:nvPr/>
        </p:nvSpPr>
        <p:spPr>
          <a:xfrm>
            <a:off x="9791640" y="6948360"/>
            <a:ext cx="735768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70000"/>
                  </a:srgbClr>
                </a:solidFill>
                <a:effectLst/>
                <a:uFillTx/>
                <a:latin typeface="Arial"/>
                <a:ea typeface="Arial"/>
              </a:rPr>
              <a:t>Everything else solders direct — the battery connector and the weapon signal pigtail are the only joints you'll unplug.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Text 154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DRIVING &amp; SAFETY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55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EVERY BOOT STARTS STOPPED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79"/>
          <p:cNvSpPr/>
          <p:nvPr/>
        </p:nvSpPr>
        <p:spPr>
          <a:xfrm>
            <a:off x="1047600" y="2828880"/>
            <a:ext cx="384768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80"/>
          <p:cNvSpPr/>
          <p:nvPr/>
        </p:nvSpPr>
        <p:spPr>
          <a:xfrm>
            <a:off x="1047600" y="2828880"/>
            <a:ext cx="3847680" cy="56880"/>
          </a:xfrm>
          <a:prstGeom prst="rect">
            <a:avLst/>
          </a:prstGeom>
          <a:solidFill>
            <a:srgbClr val="565C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81"/>
          <p:cNvSpPr/>
          <p:nvPr/>
        </p:nvSpPr>
        <p:spPr>
          <a:xfrm>
            <a:off x="1390680" y="3228840"/>
            <a:ext cx="190080" cy="190080"/>
          </a:xfrm>
          <a:prstGeom prst="ellipse">
            <a:avLst/>
          </a:prstGeom>
          <a:solidFill>
            <a:srgbClr val="565C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56"/>
          <p:cNvSpPr/>
          <p:nvPr/>
        </p:nvSpPr>
        <p:spPr>
          <a:xfrm>
            <a:off x="1390680" y="3552840"/>
            <a:ext cx="34783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Boot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57"/>
          <p:cNvSpPr/>
          <p:nvPr/>
        </p:nvSpPr>
        <p:spPr>
          <a:xfrm>
            <a:off x="1390680" y="4124160"/>
            <a:ext cx="325692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Motors braked, weapon held at zero throttle for 3 seconds while the ESC arms.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82"/>
          <p:cNvSpPr/>
          <p:nvPr/>
        </p:nvSpPr>
        <p:spPr>
          <a:xfrm>
            <a:off x="5162400" y="2828880"/>
            <a:ext cx="384768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83"/>
          <p:cNvSpPr/>
          <p:nvPr/>
        </p:nvSpPr>
        <p:spPr>
          <a:xfrm>
            <a:off x="5162400" y="2828880"/>
            <a:ext cx="3847680" cy="56880"/>
          </a:xfrm>
          <a:prstGeom prst="rect">
            <a:avLst/>
          </a:prstGeom>
          <a:solidFill>
            <a:srgbClr val="C8FF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84"/>
          <p:cNvSpPr/>
          <p:nvPr/>
        </p:nvSpPr>
        <p:spPr>
          <a:xfrm>
            <a:off x="5505480" y="3228840"/>
            <a:ext cx="190080" cy="190080"/>
          </a:xfrm>
          <a:prstGeom prst="ellipse">
            <a:avLst/>
          </a:prstGeom>
          <a:solidFill>
            <a:srgbClr val="C8FF3D"/>
          </a:solidFill>
          <a:ln w="0">
            <a:noFill/>
          </a:ln>
          <a:effectLst>
            <a:outerShdw algn="bl" blurRad="190440" dir="16200000" dist="50760" kx="0" ky="0" rotWithShape="0" sx="100000" sy="100000">
              <a:srgbClr val="C8FF3D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158"/>
          <p:cNvSpPr/>
          <p:nvPr/>
        </p:nvSpPr>
        <p:spPr>
          <a:xfrm>
            <a:off x="5505480" y="3552840"/>
            <a:ext cx="34783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Ready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59"/>
          <p:cNvSpPr/>
          <p:nvPr/>
        </p:nvSpPr>
        <p:spPr>
          <a:xfrm>
            <a:off x="5505480" y="4124160"/>
            <a:ext cx="325692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LED turns solid — Wi-Fi is up, waiting for a browser to connect.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85"/>
          <p:cNvSpPr/>
          <p:nvPr/>
        </p:nvSpPr>
        <p:spPr>
          <a:xfrm>
            <a:off x="9277200" y="2828880"/>
            <a:ext cx="384768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86"/>
          <p:cNvSpPr/>
          <p:nvPr/>
        </p:nvSpPr>
        <p:spPr>
          <a:xfrm>
            <a:off x="9277200" y="2828880"/>
            <a:ext cx="3847680" cy="5688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87"/>
          <p:cNvSpPr/>
          <p:nvPr/>
        </p:nvSpPr>
        <p:spPr>
          <a:xfrm>
            <a:off x="9620280" y="3228840"/>
            <a:ext cx="190080" cy="190080"/>
          </a:xfrm>
          <a:prstGeom prst="ellipse">
            <a:avLst/>
          </a:prstGeom>
          <a:solidFill>
            <a:srgbClr val="FF6A1A"/>
          </a:solidFill>
          <a:ln w="0">
            <a:noFill/>
          </a:ln>
          <a:effectLst>
            <a:outerShdw algn="bl" blurRad="190440" dir="16200000" dist="50760" kx="0" ky="0" rotWithShape="0" sx="100000" sy="100000">
              <a:srgbClr val="FF6A1A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60"/>
          <p:cNvSpPr/>
          <p:nvPr/>
        </p:nvSpPr>
        <p:spPr>
          <a:xfrm>
            <a:off x="9620280" y="3552840"/>
            <a:ext cx="34783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Armed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61"/>
          <p:cNvSpPr/>
          <p:nvPr/>
        </p:nvSpPr>
        <p:spPr>
          <a:xfrm>
            <a:off x="9620280" y="4124160"/>
            <a:ext cx="325692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Tap ACTIVATE in the browser — bot is now live at zero throttle.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88"/>
          <p:cNvSpPr/>
          <p:nvPr/>
        </p:nvSpPr>
        <p:spPr>
          <a:xfrm>
            <a:off x="13392000" y="2828880"/>
            <a:ext cx="3847680" cy="6695640"/>
          </a:xfrm>
          <a:prstGeom prst="rect">
            <a:avLst/>
          </a:prstGeom>
          <a:solidFill>
            <a:srgbClr val="1517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89"/>
          <p:cNvSpPr/>
          <p:nvPr/>
        </p:nvSpPr>
        <p:spPr>
          <a:xfrm>
            <a:off x="13392000" y="2828880"/>
            <a:ext cx="3847680" cy="56880"/>
          </a:xfrm>
          <a:prstGeom prst="rect">
            <a:avLst/>
          </a:prstGeom>
          <a:solidFill>
            <a:srgbClr val="FF3B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90"/>
          <p:cNvSpPr/>
          <p:nvPr/>
        </p:nvSpPr>
        <p:spPr>
          <a:xfrm>
            <a:off x="13735080" y="3228840"/>
            <a:ext cx="190080" cy="190080"/>
          </a:xfrm>
          <a:prstGeom prst="ellipse">
            <a:avLst/>
          </a:prstGeom>
          <a:solidFill>
            <a:srgbClr val="FF3B3B"/>
          </a:solidFill>
          <a:ln w="0">
            <a:noFill/>
          </a:ln>
          <a:effectLst>
            <a:outerShdw algn="bl" blurRad="190440" dir="16200000" dist="50760" kx="0" ky="0" rotWithShape="0" sx="100000" sy="100000">
              <a:srgbClr val="FF3B3B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62"/>
          <p:cNvSpPr/>
          <p:nvPr/>
        </p:nvSpPr>
        <p:spPr>
          <a:xfrm>
            <a:off x="13735080" y="3552840"/>
            <a:ext cx="34783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23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Failsafe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63"/>
          <p:cNvSpPr/>
          <p:nvPr/>
        </p:nvSpPr>
        <p:spPr>
          <a:xfrm>
            <a:off x="13735080" y="4124160"/>
            <a:ext cx="325692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>
                    <a:alpha val="65000"/>
                  </a:srgbClr>
                </a:solidFill>
                <a:effectLst/>
                <a:uFillTx/>
                <a:latin typeface="Arial"/>
                <a:ea typeface="Arial"/>
              </a:rPr>
              <a:t>Lose the link or hit STOP ALL for 1.2 seconds and it re-latches instantly.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Text 164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DRIVING &amp; SAFETY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165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DRIVING THE BOT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91"/>
          <p:cNvSpPr/>
          <p:nvPr/>
        </p:nvSpPr>
        <p:spPr>
          <a:xfrm>
            <a:off x="1047600" y="2828880"/>
            <a:ext cx="3847680" cy="66956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166"/>
          <p:cNvSpPr/>
          <p:nvPr/>
        </p:nvSpPr>
        <p:spPr>
          <a:xfrm>
            <a:off x="1352520" y="3133800"/>
            <a:ext cx="3561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167"/>
          <p:cNvSpPr/>
          <p:nvPr/>
        </p:nvSpPr>
        <p:spPr>
          <a:xfrm>
            <a:off x="1352520" y="3867120"/>
            <a:ext cx="33354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Join the robot's Wi-Fi network from your phone or laptop.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92"/>
          <p:cNvSpPr/>
          <p:nvPr/>
        </p:nvSpPr>
        <p:spPr>
          <a:xfrm>
            <a:off x="5162400" y="2828880"/>
            <a:ext cx="3847680" cy="66956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68"/>
          <p:cNvSpPr/>
          <p:nvPr/>
        </p:nvSpPr>
        <p:spPr>
          <a:xfrm>
            <a:off x="5467320" y="3133800"/>
            <a:ext cx="3561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169"/>
          <p:cNvSpPr/>
          <p:nvPr/>
        </p:nvSpPr>
        <p:spPr>
          <a:xfrm>
            <a:off x="5467320" y="3867120"/>
            <a:ext cx="333540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Open a browser to the robot's address — the joystick page loads automatically.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93"/>
          <p:cNvSpPr/>
          <p:nvPr/>
        </p:nvSpPr>
        <p:spPr>
          <a:xfrm>
            <a:off x="9277200" y="2828880"/>
            <a:ext cx="3847680" cy="66956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170"/>
          <p:cNvSpPr/>
          <p:nvPr/>
        </p:nvSpPr>
        <p:spPr>
          <a:xfrm>
            <a:off x="9582120" y="3133800"/>
            <a:ext cx="3561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171"/>
          <p:cNvSpPr/>
          <p:nvPr/>
        </p:nvSpPr>
        <p:spPr>
          <a:xfrm>
            <a:off x="9582120" y="3867120"/>
            <a:ext cx="333540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Tap ACTIVATE, then drag the pad to drive and the slider to spin the weapon.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94"/>
          <p:cNvSpPr/>
          <p:nvPr/>
        </p:nvSpPr>
        <p:spPr>
          <a:xfrm>
            <a:off x="13392000" y="2828880"/>
            <a:ext cx="3847680" cy="6695640"/>
          </a:xfrm>
          <a:prstGeom prst="rect">
            <a:avLst/>
          </a:prstGeom>
          <a:solidFill>
            <a:srgbClr val="1D20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172"/>
          <p:cNvSpPr/>
          <p:nvPr/>
        </p:nvSpPr>
        <p:spPr>
          <a:xfrm>
            <a:off x="13696920" y="3133800"/>
            <a:ext cx="3561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pc="34" strike="noStrike">
                <a:solidFill>
                  <a:srgbClr val="FF3B3B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173"/>
          <p:cNvSpPr/>
          <p:nvPr/>
        </p:nvSpPr>
        <p:spPr>
          <a:xfrm>
            <a:off x="13696920" y="3867120"/>
            <a:ext cx="33354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28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Tap STOP ALL — or hit Escape — any time to hard-stop instantly.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Text 174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PRE-FLIGHT CHECKLIST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175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BEFORE EVERY RUN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95"/>
          <p:cNvSpPr/>
          <p:nvPr/>
        </p:nvSpPr>
        <p:spPr>
          <a:xfrm>
            <a:off x="1047600" y="286704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176"/>
          <p:cNvSpPr/>
          <p:nvPr/>
        </p:nvSpPr>
        <p:spPr>
          <a:xfrm>
            <a:off x="1504800" y="2828880"/>
            <a:ext cx="49356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Battery voltage checked before connecting.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96"/>
          <p:cNvSpPr/>
          <p:nvPr/>
        </p:nvSpPr>
        <p:spPr>
          <a:xfrm>
            <a:off x="9429840" y="286704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77"/>
          <p:cNvSpPr/>
          <p:nvPr/>
        </p:nvSpPr>
        <p:spPr>
          <a:xfrm>
            <a:off x="9887040" y="2828880"/>
            <a:ext cx="46090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No exposed wiring, all heat-shrink intact.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97"/>
          <p:cNvSpPr/>
          <p:nvPr/>
        </p:nvSpPr>
        <p:spPr>
          <a:xfrm>
            <a:off x="1047600" y="342900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178"/>
          <p:cNvSpPr/>
          <p:nvPr/>
        </p:nvSpPr>
        <p:spPr>
          <a:xfrm>
            <a:off x="1504800" y="3390840"/>
            <a:ext cx="43840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Weapon area clear of fingers and tools.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98"/>
          <p:cNvSpPr/>
          <p:nvPr/>
        </p:nvSpPr>
        <p:spPr>
          <a:xfrm>
            <a:off x="9429840" y="342900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179"/>
          <p:cNvSpPr/>
          <p:nvPr/>
        </p:nvSpPr>
        <p:spPr>
          <a:xfrm>
            <a:off x="9887040" y="3390840"/>
            <a:ext cx="51256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Status LED confirmed solid before activating.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99"/>
          <p:cNvSpPr/>
          <p:nvPr/>
        </p:nvSpPr>
        <p:spPr>
          <a:xfrm>
            <a:off x="1047600" y="399096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180"/>
          <p:cNvSpPr/>
          <p:nvPr/>
        </p:nvSpPr>
        <p:spPr>
          <a:xfrm>
            <a:off x="1504800" y="3952800"/>
            <a:ext cx="5391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First test drive done with wheels off the ground.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100"/>
          <p:cNvSpPr/>
          <p:nvPr/>
        </p:nvSpPr>
        <p:spPr>
          <a:xfrm>
            <a:off x="9429840" y="399096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181"/>
          <p:cNvSpPr/>
          <p:nvPr/>
        </p:nvSpPr>
        <p:spPr>
          <a:xfrm>
            <a:off x="9887040" y="3952800"/>
            <a:ext cx="47048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Weapon tested briefly at low throttle first.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101"/>
          <p:cNvSpPr/>
          <p:nvPr/>
        </p:nvSpPr>
        <p:spPr>
          <a:xfrm>
            <a:off x="1047600" y="455292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182"/>
          <p:cNvSpPr/>
          <p:nvPr/>
        </p:nvSpPr>
        <p:spPr>
          <a:xfrm>
            <a:off x="1504800" y="4514760"/>
            <a:ext cx="5173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Failsafe confirmed by closing the browser tab.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102"/>
          <p:cNvSpPr/>
          <p:nvPr/>
        </p:nvSpPr>
        <p:spPr>
          <a:xfrm>
            <a:off x="9429840" y="4552920"/>
            <a:ext cx="266400" cy="266400"/>
          </a:xfrm>
          <a:prstGeom prst="rect">
            <a:avLst/>
          </a:prstGeom>
          <a:noFill/>
          <a:ln w="28575">
            <a:solidFill>
              <a:srgbClr val="C8F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83"/>
          <p:cNvSpPr/>
          <p:nvPr/>
        </p:nvSpPr>
        <p:spPr>
          <a:xfrm>
            <a:off x="9887040" y="4514760"/>
            <a:ext cx="4610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STOP ALL tested and re-latch confirmed.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Text 184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FF3B3B"/>
                </a:solidFill>
                <a:effectLst/>
                <a:uFillTx/>
                <a:latin typeface="Arial"/>
                <a:ea typeface="Arial"/>
              </a:rPr>
              <a:t>DRIVING &amp; SAFETY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185"/>
          <p:cNvSpPr/>
          <p:nvPr/>
        </p:nvSpPr>
        <p:spPr>
          <a:xfrm>
            <a:off x="1047600" y="1305000"/>
            <a:ext cx="17811360" cy="11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RULES WE NEVER SKIP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103"/>
          <p:cNvSpPr/>
          <p:nvPr/>
        </p:nvSpPr>
        <p:spPr>
          <a:xfrm>
            <a:off x="1047600" y="5305320"/>
            <a:ext cx="142873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104"/>
          <p:cNvSpPr/>
          <p:nvPr/>
        </p:nvSpPr>
        <p:spPr>
          <a:xfrm>
            <a:off x="1047600" y="4800600"/>
            <a:ext cx="151920" cy="151920"/>
          </a:xfrm>
          <a:prstGeom prst="rect">
            <a:avLst/>
          </a:prstGeom>
          <a:solidFill>
            <a:srgbClr val="FF3B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6"/>
          <p:cNvSpPr/>
          <p:nvPr/>
        </p:nvSpPr>
        <p:spPr>
          <a:xfrm>
            <a:off x="1504800" y="4695840"/>
            <a:ext cx="104288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Disconnect the main battery whenever the bot isn't actively being driven.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05"/>
          <p:cNvSpPr/>
          <p:nvPr/>
        </p:nvSpPr>
        <p:spPr>
          <a:xfrm>
            <a:off x="1047600" y="6172200"/>
            <a:ext cx="142873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106"/>
          <p:cNvSpPr/>
          <p:nvPr/>
        </p:nvSpPr>
        <p:spPr>
          <a:xfrm>
            <a:off x="1047600" y="5667480"/>
            <a:ext cx="151920" cy="151920"/>
          </a:xfrm>
          <a:prstGeom prst="rect">
            <a:avLst/>
          </a:prstGeom>
          <a:solidFill>
            <a:srgbClr val="FF3B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87"/>
          <p:cNvSpPr/>
          <p:nvPr/>
        </p:nvSpPr>
        <p:spPr>
          <a:xfrm>
            <a:off x="1504800" y="5562720"/>
            <a:ext cx="132346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Keep hands, tools, and loose clothing clear of the weapon any time the battery is connected.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107"/>
          <p:cNvSpPr/>
          <p:nvPr/>
        </p:nvSpPr>
        <p:spPr>
          <a:xfrm>
            <a:off x="1047600" y="7039080"/>
            <a:ext cx="14287320" cy="9000"/>
          </a:xfrm>
          <a:prstGeom prst="rect">
            <a:avLst/>
          </a:prstGeom>
          <a:solidFill>
            <a:srgbClr val="3A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108"/>
          <p:cNvSpPr/>
          <p:nvPr/>
        </p:nvSpPr>
        <p:spPr>
          <a:xfrm>
            <a:off x="1047600" y="6534000"/>
            <a:ext cx="151920" cy="151920"/>
          </a:xfrm>
          <a:prstGeom prst="rect">
            <a:avLst/>
          </a:prstGeom>
          <a:solidFill>
            <a:srgbClr val="FF3B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188"/>
          <p:cNvSpPr/>
          <p:nvPr/>
        </p:nvSpPr>
        <p:spPr>
          <a:xfrm>
            <a:off x="1504800" y="6429240"/>
            <a:ext cx="949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Wear eye protection and restrain the robot during weapon testing.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109"/>
          <p:cNvSpPr/>
          <p:nvPr/>
        </p:nvSpPr>
        <p:spPr>
          <a:xfrm>
            <a:off x="1047600" y="7400880"/>
            <a:ext cx="151920" cy="151920"/>
          </a:xfrm>
          <a:prstGeom prst="rect">
            <a:avLst/>
          </a:prstGeom>
          <a:solidFill>
            <a:srgbClr val="FF3B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189"/>
          <p:cNvSpPr/>
          <p:nvPr/>
        </p:nvSpPr>
        <p:spPr>
          <a:xfrm>
            <a:off x="1504800" y="7296120"/>
            <a:ext cx="10465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Re-run the full pre-flight checklist after any rewiring or firmware change.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1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Shape 110"/>
          <p:cNvSpPr/>
          <p:nvPr/>
        </p:nvSpPr>
        <p:spPr>
          <a:xfrm>
            <a:off x="0" y="10153800"/>
            <a:ext cx="18287640" cy="132840"/>
          </a:xfrm>
          <a:prstGeom prst="rect">
            <a:avLst/>
          </a:prstGeom>
          <a:solidFill>
            <a:srgbClr val="FF6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190"/>
          <p:cNvSpPr/>
          <p:nvPr/>
        </p:nvSpPr>
        <p:spPr>
          <a:xfrm>
            <a:off x="1047600" y="952560"/>
            <a:ext cx="1781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289" strike="noStrike">
                <a:solidFill>
                  <a:srgbClr val="C8FF3D"/>
                </a:solidFill>
                <a:effectLst/>
                <a:uFillTx/>
                <a:latin typeface="Arial"/>
                <a:ea typeface="Arial"/>
              </a:rPr>
              <a:t>LET'S GET STARTED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91"/>
          <p:cNvSpPr/>
          <p:nvPr/>
        </p:nvSpPr>
        <p:spPr>
          <a:xfrm>
            <a:off x="1047600" y="3705840"/>
            <a:ext cx="16678080" cy="16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86000"/>
              </a:lnSpc>
              <a:tabLst>
                <a:tab pos="0" algn="l"/>
              </a:tabLst>
            </a:pPr>
            <a:r>
              <a:rPr lang="en-US" sz="5850" b="1" u="none" spc="60" strike="noStrike">
                <a:solidFill>
                  <a:srgbClr val="ECEAE4"/>
                </a:solidFill>
                <a:effectLst/>
                <a:uFillTx/>
                <a:latin typeface="Arial"/>
                <a:ea typeface="Arial"/>
              </a:rPr>
              <a:t>FROM PARTS LIST TO ARENA READY</a:t>
            </a:r>
            <a:endParaRPr lang="en-US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192"/>
          <p:cNvSpPr/>
          <p:nvPr/>
        </p:nvSpPr>
        <p:spPr>
          <a:xfrm>
            <a:off x="1047600" y="5466600"/>
            <a:ext cx="127537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FF6A1A"/>
                </a:solidFill>
                <a:effectLst/>
                <a:uFillTx/>
                <a:latin typeface="Arial"/>
                <a:ea typeface="Arial"/>
              </a:rPr>
              <a:t>One board, one battery, and a browser — everything else is just following the steps together.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111"/>
          <p:cNvSpPr/>
          <p:nvPr/>
        </p:nvSpPr>
        <p:spPr>
          <a:xfrm>
            <a:off x="1047600" y="9315360"/>
            <a:ext cx="132840" cy="132840"/>
          </a:xfrm>
          <a:prstGeom prst="rect">
            <a:avLst/>
          </a:prstGeom>
          <a:solidFill>
            <a:srgbClr val="C8FF3D"/>
          </a:solidFill>
          <a:ln w="0">
            <a:noFill/>
          </a:ln>
          <a:effectLst>
            <a:outerShdw algn="bl" blurRad="190440" dir="16200000" dist="50760" kx="0" ky="0" rotWithShape="0" sx="100000" sy="100000">
              <a:srgbClr val="C8FF3D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93"/>
          <p:cNvSpPr/>
          <p:nvPr/>
        </p:nvSpPr>
        <p:spPr>
          <a:xfrm>
            <a:off x="1333440" y="9239400"/>
            <a:ext cx="2889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0" u="none" strike="noStrike">
                <a:solidFill>
                  <a:srgbClr val="565C64"/>
                </a:solidFill>
                <a:effectLst/>
                <a:uFillTx/>
                <a:latin typeface="Arial"/>
                <a:ea typeface="Arial"/>
              </a:rPr>
              <a:t>See you at the build table.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2026-07-23T04:04:48Z</dcterms:created>
  <dc:creator>PptxGenJS</dc:creator>
  <dc:description/>
  <dc:language>en-US</dc:language>
  <cp:lastModifiedBy/>
  <dcterms:modified xsi:type="dcterms:W3CDTF">2026-07-23T09:28:01Z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On-screen Show (16:9)</vt:lpwstr>
  </property>
  <property fmtid="{D5CDD505-2E9C-101B-9397-08002B2CF9AE}" pid="4" name="Slides">
    <vt:i4>14</vt:i4>
  </property>
</Properties>
</file>